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Good [morning/afternoon], Dr. [PI's name]. I'm Benjamin Narh-Madey and today I'll walk you through the phylogenomics pipeline I've built for PLANTPATH 563.</a:t>
            </a:r>
            <a:br/>
            <a:br/>
            <a:r>
              <a:rPr sz="1200">
                <a:latin typeface="Calibri"/>
              </a:rPr>
              <a:t>The core question is: how has the genetic basis for mannose metabolism evolved across the Saccharomycotina subphylum? We're working with 267 focal yeast species from the Y1000+ dataset and using a multi-method approach — maximum likelihood trees, Bayesian time-calibrated trees, a multi-species coalescent species tree, and phylogenetic signal analysis — to answer this.</a:t>
            </a:r>
            <a:br/>
            <a:br/>
            <a:r>
              <a:rPr sz="1200">
                <a:latin typeface="Calibri"/>
              </a:rPr>
              <a:t>I'll take you through each phase of the pipeline and share where we currently stand.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slide gives you the big picture.</a:t>
            </a:r>
            <a:br/>
            <a:br/>
            <a:r>
              <a:rPr sz="1200">
                <a:latin typeface="Calibri"/>
              </a:rPr>
              <a:t>The raw data comes from the Y1000+ OrthoFinder output — orthogroups (OGs) are essentially gene-family buckets. Machine learning models pre-identified the OGs most associated with the mannose growth phenotype. A key design decision: we align and analyze per orthogroup, not per species, because each species may contribute zero, one, or multiple paralogs to a given OG.</a:t>
            </a:r>
            <a:br/>
            <a:br/>
            <a:r>
              <a:rPr sz="1200">
                <a:latin typeface="Calibri"/>
              </a:rPr>
              <a:t>The pipeline has two main stages: preprocessing runs locally to produce trimmed, analysis-ready alignments; then we push all compute-heavy steps to the GLBRC HT Condor cluster in parallel.</a:t>
            </a:r>
            <a:br/>
            <a:br/>
            <a:r>
              <a:rPr sz="1200">
                <a:latin typeface="Calibri"/>
              </a:rPr>
              <a:t>The test run on OG0000007 validated the whole workflow end-to-end — best-fit model came back as Q.YEAST+F+R10.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There are four research questions driving the pipeline design.</a:t>
            </a:r>
            <a:br/>
            <a:br/>
            <a:r>
              <a:rPr sz="1200">
                <a:latin typeface="Calibri"/>
              </a:rPr>
              <a:t>RQ1 asks about the evolutionary timeline: using BEAST2 chronograms with MRCA calibration anchors, we can estimate not just how mannose metabolism genes diverged, but approximately when those splits occurred in millions of years.</a:t>
            </a:r>
            <a:br/>
            <a:br/>
            <a:r>
              <a:rPr sz="1200">
                <a:latin typeface="Calibri"/>
              </a:rPr>
              <a:t>RQ2 maps the phenotype onto the tree: binary mannose growth data (1=growth, 0=no growth) gets overlaid onto the time-calibrated tree in FigTree so we can identify where ability was gained or lost.</a:t>
            </a:r>
            <a:br/>
            <a:br/>
            <a:r>
              <a:rPr sz="1200">
                <a:latin typeface="Calibri"/>
              </a:rPr>
              <a:t>RQ3 tests for phylogenetic signal: the D-statistic will tell us whether mannose growth is a phylogenetically conserved trait or one that evolved independently many times (convergent evolution).</a:t>
            </a:r>
            <a:br/>
            <a:br/>
            <a:r>
              <a:rPr sz="1200">
                <a:latin typeface="Calibri"/>
              </a:rPr>
              <a:t>RQ4 addresses model selection: we replaced the old hardcoded LG model with per-OG model selection using IQ-TREE ModelFinder and BIC. This is biologically important because yeast proteins evolve under very different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Here is the dataset summary. We have 9 trimmed orthogroup alignments ready for the cluster pipeline — note that OG0007179 was removed because the outgroup (Lipomyces starkeyi) is absent from that OG, it has fewer than 4 genes, and it cannot be properly rooted for D-statistic calculation.</a:t>
            </a:r>
            <a:br/>
            <a:br/>
            <a:r>
              <a:rPr sz="1200">
                <a:latin typeface="Calibri"/>
              </a:rPr>
              <a:t>All tools are managed in a single conda environment called phylo_env, which is also packed as a tar.gz for deployment to Condor execute nodes — this is how we handle the fact that cluster nodes don't have internet access during jobs.</a:t>
            </a:r>
            <a:br/>
            <a:br/>
            <a:r>
              <a:rPr sz="1200">
                <a:latin typeface="Calibri"/>
              </a:rPr>
              <a:t>One dependency note: BEAST2 2.6.3 requires Java 8, which downgraded openjdk from version 25. IQ-TREE and RAxML-NG have been confirmed working after that downgrade.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Before anything runs on the cluster, we go through four local preprocessing steps.</a:t>
            </a:r>
            <a:br/>
            <a:br/>
            <a:r>
              <a:rPr sz="1200">
                <a:latin typeface="Calibri"/>
              </a:rPr>
              <a:t>Step A subsets the full OrthoFinder FASTAs — 1,154 species — down to just our 267 focal species using seqkit grep. The header format matters: species IDs in the FASTA follow the pattern 'geneID|species.final', so our species list must contain the portion after the pipe.</a:t>
            </a:r>
            <a:br/>
            <a:br/>
            <a:r>
              <a:rPr sz="1200">
                <a:latin typeface="Calibri"/>
              </a:rPr>
              <a:t>Step B runs MAFFT per orthogroup. We switch alignment strategy based on OG size: L-INS-i for OGs with 200 or fewer sequences (high accuracy, slower) and FFT-NS-2 via --auto for larger OGs (scalable, builds a guide tree twice).</a:t>
            </a:r>
            <a:br/>
            <a:br/>
            <a:r>
              <a:rPr sz="1200">
                <a:latin typeface="Calibri"/>
              </a:rPr>
              <a:t>Step C trims with TrimAl's -automated1 flag, which adapts thresholds per alignment automatically — important because OG sizes vary widely.</a:t>
            </a:r>
            <a:br/>
            <a:br/>
            <a:r>
              <a:rPr sz="1200">
                <a:latin typeface="Calibri"/>
              </a:rPr>
              <a:t>Step D runs a local IQ-TREE test on one OG to validate the preprocessing output before committing cluster resources.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Phase 1 runs all 9 orthogroups through IQ-TREE ModelFinder in parallel on Condor — roughly 1.5 hours total compared to about 13 hours for the old serial approach.</a:t>
            </a:r>
            <a:br/>
            <a:br/>
            <a:r>
              <a:rPr sz="1200">
                <a:latin typeface="Calibri"/>
              </a:rPr>
              <a:t>Each job tests 1,232 substitution models and selects the best by BIC (Bayesian Information Criterion), which penalizes model complexity more than AIC. The results are collected into a tab-separated file called jobs_with_models.txt — one line per OG, filename and model name. That file feeds directly into RAxML-NG as the --model flag in Phase 2a.</a:t>
            </a:r>
            <a:br/>
            <a:br/>
            <a:r>
              <a:rPr sz="1200">
                <a:latin typeface="Calibri"/>
              </a:rPr>
              <a:t>You'll notice two OGs came back with Q.YEAST — a yeast-specific amino acid exchange matrix — which makes biological sense for these highly diverged yeast sequences. OG0007179 is highlighted in red because it was removed from all downstream phases.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Phase 2 has three parallel analyses that run after model selection completes.</a:t>
            </a:r>
            <a:br/>
            <a:br/>
            <a:r>
              <a:rPr sz="1200">
                <a:latin typeface="Calibri"/>
              </a:rPr>
              <a:t>Phase 2a: RAxML-NG runs the maximum likelihood tree search. We start from 20 trees (10 parsimony + 10 random) to avoid getting stuck in local optima, and run 100 bootstrap replicates. The main output is OG*.raxml.support — the best ML tree with bootstrap support values on each branch.</a:t>
            </a:r>
            <a:br/>
            <a:br/>
            <a:r>
              <a:rPr sz="1200">
                <a:latin typeface="Calibri"/>
              </a:rPr>
              <a:t>Phase 2b: BEAST2 runs in parallel with 2a. It uses a relaxed lognormal clock so each branch gets its own evolutionary rate, and a Birth-Death tree prior which models both speciation and extinction. The IQ-TREE treefile from Phase 1 is used as the starting tree for BEAST2 via TreeParser — this helps convergence. MRCA calibration priors anchor the timeline to known fossil dates.</a:t>
            </a:r>
            <a:br/>
            <a:br/>
            <a:r>
              <a:rPr sz="1200">
                <a:latin typeface="Calibri"/>
              </a:rPr>
              <a:t>Phase 2c: After the RAxML trees are ready, ASTRAL infers a species tree using the multi-species coalescent model. This accounts for incomplete lineage sorting — where a gene tree disagrees with the species tree not due to error but due to deep coalescence.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slide details the BEAST2 setup and the MRCA calibration priors, which are critical for getting meaningful divergence time estimates.</a:t>
            </a:r>
            <a:br/>
            <a:br/>
            <a:r>
              <a:rPr sz="1200">
                <a:latin typeface="Calibri"/>
              </a:rPr>
              <a:t>The three calibration anchors come from Shen et al. 2018 (MCMCTree Table S2). The deep anchor constrains the split between Babjeviella inositovora and Pachysolen tannophilus to around 224.7 million years ago. The medium anchor constrains two Zygosaccharomyces species to about 36.9 Ma. The young anchor constrains two Kazachstania species to about 17.3 Ma. These three anchor points span early, middle, and recent divergence events in the subphylum.</a:t>
            </a:r>
            <a:br/>
            <a:br/>
            <a:r>
              <a:rPr sz="1200">
                <a:latin typeface="Calibri"/>
              </a:rPr>
              <a:t>A critical convergence check: before I use any Bayesian trees, I will load the .log trace files into Tracer and verify that all ESS (Effective Sample Size) values exceed 200 — ideally 500+. If they don't, I'll extend the chain length and rerun. Do not summarize trees before convergence is confirmed.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Phase 3 calculates the D-statistic (Fritz &amp; Purvis 2010) for the mannose growth trait on each gene tree using the caper package in R — the same method used in the Y1000+ paper by Opulente et al. and Harrison et al.</a:t>
            </a:r>
            <a:br/>
            <a:br/>
            <a:r>
              <a:rPr sz="1200">
                <a:latin typeface="Calibri"/>
              </a:rPr>
              <a:t>The D-statistic measures how clustered a binary trait is on a phylogenetic tree. D near 0 means strong phylogenetic signal (related species tend to share the trait). D near 1 means the trait is randomly distributed, and D greater than 1 suggests overdispersion — convergent evolution where the trait appeared independently many times.</a:t>
            </a:r>
            <a:br/>
            <a:br/>
            <a:r>
              <a:rPr sz="1200">
                <a:latin typeface="Calibri"/>
              </a:rPr>
              <a:t>Two p-values are reported per OG: p(random) tests whether the distribution is non-random, and p(Brownian) tests whether it deviates from Brownian motion evolution.</a:t>
            </a:r>
            <a:br/>
            <a:br/>
            <a:r>
              <a:rPr sz="1200">
                <a:latin typeface="Calibri"/>
              </a:rPr>
              <a:t>One important nuance: running D on gene trees (what we're doing here) identifies which orthogroups show the strongest association with the mannose trait. Running D on the species tree would answer the broader question of whether mannose growth is conserved across the subphylum as a whole — that's a planned follow-up analysis.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Here's where we stand. Preprocessing is complete — all 8 OG alignments are trimmed and ready. Phase 1 model selection is also complete. Phase 2a RAxML-NG jobs are currently running on the cluster (job cluster 105756).</a:t>
            </a:r>
            <a:br/>
            <a:br/>
            <a:r>
              <a:rPr sz="1200">
                <a:latin typeface="Calibri"/>
              </a:rPr>
              <a:t>For Phase 2b: the BEAST2 XML configs have been generated and the MRCA calibration priors are ready to inject manually. Once the XMLs are annotated, the jobs can be submitted alongside the RAxML run.</a:t>
            </a:r>
            <a:br/>
            <a:br/>
            <a:r>
              <a:rPr sz="1200">
                <a:latin typeface="Calibri"/>
              </a:rPr>
              <a:t>For Phase 2c: ASTRAL will run as soon as the RAxML bestTree files are available — it's a fast step.</a:t>
            </a:r>
            <a:br/>
            <a:br/>
            <a:r>
              <a:rPr sz="1200">
                <a:latin typeface="Calibri"/>
              </a:rPr>
              <a:t>For Phase 3: I need to finalize the mannose_traits.csv file and place it in the data/ directory before running the D-statistic script.</a:t>
            </a:r>
            <a:br/>
            <a:br/>
            <a:r>
              <a:rPr sz="1200">
                <a:latin typeface="Calibri"/>
              </a:rPr>
              <a:t>The planned next analyses — per-site conservation scoring, enrichment tests, ancestral state reconstruction, and genome alignment with pygenomeviz — build directly on the trees we're generating now.</a:t>
            </a:r>
            <a:br/>
            <a:br/>
            <a:r>
              <a:rPr sz="1200">
                <a:latin typeface="Calibri"/>
              </a:rPr>
              <a:t>I'm happy to take questions on any part of the pipeline.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2342"/>
        </a:solidFill>
        <a:effectLst/>
      </p:bgPr>
    </p:bg>
    <p:spTree>
      <p:nvGrpSpPr>
        <p:cNvPr id="1" name=""/>
        <p:cNvGrpSpPr/>
        <p:nvPr/>
      </p:nvGrpSpPr>
      <p:grpSpPr/>
      <p:sp>
        <p:nvSpPr>
          <p:cNvPr id="2" name="Rectangle 1"/>
          <p:cNvSpPr/>
          <p:nvPr/>
        </p:nvSpPr>
        <p:spPr>
          <a:xfrm>
            <a:off x="7315200" y="0"/>
            <a:ext cx="4873752" cy="2286000"/>
          </a:xfrm>
          <a:prstGeom prst="rect">
            <a:avLst/>
          </a:prstGeom>
          <a:solidFill>
            <a:srgbClr val="0D3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548640"/>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72784"/>
            <a:ext cx="12188952" cy="54864"/>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109728" cy="292608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188720"/>
            <a:ext cx="8686800" cy="1828800"/>
          </a:xfrm>
          <a:prstGeom prst="rect">
            <a:avLst/>
          </a:prstGeom>
          <a:noFill/>
        </p:spPr>
        <p:txBody>
          <a:bodyPr wrap="square" lIns="45720" tIns="0" rIns="45720">
            <a:spAutoFit/>
          </a:bodyPr>
          <a:lstStyle/>
          <a:p>
            <a:pPr algn="l"/>
            <a:r>
              <a:rPr b="1" i="0" sz="3400">
                <a:solidFill>
                  <a:srgbClr val="FFFFFF"/>
                </a:solidFill>
                <a:latin typeface="Calibri"/>
              </a:rPr>
              <a:t>Phylogenetic Analysis of Mannose-Associated
Genes Across 267 Yeast Species</a:t>
            </a:r>
          </a:p>
        </p:txBody>
      </p:sp>
      <p:sp>
        <p:nvSpPr>
          <p:cNvPr id="7" name="TextBox 6"/>
          <p:cNvSpPr txBox="1"/>
          <p:nvPr/>
        </p:nvSpPr>
        <p:spPr>
          <a:xfrm>
            <a:off x="777240" y="3154680"/>
            <a:ext cx="8686800" cy="914400"/>
          </a:xfrm>
          <a:prstGeom prst="rect">
            <a:avLst/>
          </a:prstGeom>
          <a:noFill/>
        </p:spPr>
        <p:txBody>
          <a:bodyPr wrap="square" lIns="45720" tIns="0" rIns="45720">
            <a:spAutoFit/>
          </a:bodyPr>
          <a:lstStyle/>
          <a:p>
            <a:pPr algn="l"/>
            <a:r>
              <a:rPr b="0" i="1" sz="1500">
                <a:solidFill>
                  <a:srgbClr val="D6EAF8"/>
                </a:solidFill>
                <a:latin typeface="Calibri"/>
              </a:rPr>
              <a:t>Identifying evolutionary patterns of mannose metabolism in Saccharomycotina
using orthogroups, ML &amp; Bayesian phylogenomics, and D-statistic analysis</a:t>
            </a:r>
          </a:p>
        </p:txBody>
      </p:sp>
      <p:sp>
        <p:nvSpPr>
          <p:cNvPr id="8" name="Rectangle 7"/>
          <p:cNvSpPr/>
          <p:nvPr/>
        </p:nvSpPr>
        <p:spPr>
          <a:xfrm>
            <a:off x="777240" y="4206240"/>
            <a:ext cx="2560320" cy="566928"/>
          </a:xfrm>
          <a:prstGeom prst="rect">
            <a:avLst/>
          </a:prstGeom>
          <a:solidFill>
            <a:srgbClr val="0D3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4233672"/>
            <a:ext cx="914400" cy="201168"/>
          </a:xfrm>
          <a:prstGeom prst="rect">
            <a:avLst/>
          </a:prstGeom>
          <a:noFill/>
        </p:spPr>
        <p:txBody>
          <a:bodyPr wrap="square" lIns="45720" tIns="0" rIns="45720">
            <a:spAutoFit/>
          </a:bodyPr>
          <a:lstStyle/>
          <a:p>
            <a:pPr algn="l"/>
            <a:r>
              <a:rPr b="1" i="0" sz="800">
                <a:solidFill>
                  <a:srgbClr val="1ABC9C"/>
                </a:solidFill>
                <a:latin typeface="Calibri"/>
              </a:rPr>
              <a:t>COURSE</a:t>
            </a:r>
          </a:p>
        </p:txBody>
      </p:sp>
      <p:sp>
        <p:nvSpPr>
          <p:cNvPr id="10" name="TextBox 9"/>
          <p:cNvSpPr txBox="1"/>
          <p:nvPr/>
        </p:nvSpPr>
        <p:spPr>
          <a:xfrm>
            <a:off x="886968" y="4434840"/>
            <a:ext cx="2286000" cy="292608"/>
          </a:xfrm>
          <a:prstGeom prst="rect">
            <a:avLst/>
          </a:prstGeom>
          <a:noFill/>
        </p:spPr>
        <p:txBody>
          <a:bodyPr wrap="square" lIns="45720" tIns="0" rIns="45720">
            <a:spAutoFit/>
          </a:bodyPr>
          <a:lstStyle/>
          <a:p>
            <a:pPr algn="l"/>
            <a:r>
              <a:rPr b="0" i="0" sz="1200">
                <a:solidFill>
                  <a:srgbClr val="FFFFFF"/>
                </a:solidFill>
                <a:latin typeface="Calibri"/>
              </a:rPr>
              <a:t>PLANTPATH 563</a:t>
            </a:r>
          </a:p>
        </p:txBody>
      </p:sp>
      <p:sp>
        <p:nvSpPr>
          <p:cNvPr id="11" name="Rectangle 10"/>
          <p:cNvSpPr/>
          <p:nvPr/>
        </p:nvSpPr>
        <p:spPr>
          <a:xfrm>
            <a:off x="3611880" y="4206240"/>
            <a:ext cx="2560320" cy="566928"/>
          </a:xfrm>
          <a:prstGeom prst="rect">
            <a:avLst/>
          </a:prstGeom>
          <a:solidFill>
            <a:srgbClr val="0D3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1608" y="4233672"/>
            <a:ext cx="914400" cy="201168"/>
          </a:xfrm>
          <a:prstGeom prst="rect">
            <a:avLst/>
          </a:prstGeom>
          <a:noFill/>
        </p:spPr>
        <p:txBody>
          <a:bodyPr wrap="square" lIns="45720" tIns="0" rIns="45720">
            <a:spAutoFit/>
          </a:bodyPr>
          <a:lstStyle/>
          <a:p>
            <a:pPr algn="l"/>
            <a:r>
              <a:rPr b="1" i="0" sz="800">
                <a:solidFill>
                  <a:srgbClr val="1ABC9C"/>
                </a:solidFill>
                <a:latin typeface="Calibri"/>
              </a:rPr>
              <a:t>AUTHOR</a:t>
            </a:r>
          </a:p>
        </p:txBody>
      </p:sp>
      <p:sp>
        <p:nvSpPr>
          <p:cNvPr id="13" name="TextBox 12"/>
          <p:cNvSpPr txBox="1"/>
          <p:nvPr/>
        </p:nvSpPr>
        <p:spPr>
          <a:xfrm>
            <a:off x="3721608" y="4434840"/>
            <a:ext cx="2286000" cy="292608"/>
          </a:xfrm>
          <a:prstGeom prst="rect">
            <a:avLst/>
          </a:prstGeom>
          <a:noFill/>
        </p:spPr>
        <p:txBody>
          <a:bodyPr wrap="square" lIns="45720" tIns="0" rIns="45720">
            <a:spAutoFit/>
          </a:bodyPr>
          <a:lstStyle/>
          <a:p>
            <a:pPr algn="l"/>
            <a:r>
              <a:rPr b="0" i="0" sz="1200">
                <a:solidFill>
                  <a:srgbClr val="FFFFFF"/>
                </a:solidFill>
                <a:latin typeface="Calibri"/>
              </a:rPr>
              <a:t>Benjamin Narh-Madey</a:t>
            </a:r>
          </a:p>
        </p:txBody>
      </p:sp>
      <p:sp>
        <p:nvSpPr>
          <p:cNvPr id="14" name="Rectangle 13"/>
          <p:cNvSpPr/>
          <p:nvPr/>
        </p:nvSpPr>
        <p:spPr>
          <a:xfrm>
            <a:off x="6446520" y="4206240"/>
            <a:ext cx="2560320" cy="566928"/>
          </a:xfrm>
          <a:prstGeom prst="rect">
            <a:avLst/>
          </a:prstGeom>
          <a:solidFill>
            <a:srgbClr val="0D3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6248" y="4233672"/>
            <a:ext cx="914400" cy="201168"/>
          </a:xfrm>
          <a:prstGeom prst="rect">
            <a:avLst/>
          </a:prstGeom>
          <a:noFill/>
        </p:spPr>
        <p:txBody>
          <a:bodyPr wrap="square" lIns="45720" tIns="0" rIns="45720">
            <a:spAutoFit/>
          </a:bodyPr>
          <a:lstStyle/>
          <a:p>
            <a:pPr algn="l"/>
            <a:r>
              <a:rPr b="1" i="0" sz="800">
                <a:solidFill>
                  <a:srgbClr val="1ABC9C"/>
                </a:solidFill>
                <a:latin typeface="Calibri"/>
              </a:rPr>
              <a:t>CLUSTER</a:t>
            </a:r>
          </a:p>
        </p:txBody>
      </p:sp>
      <p:sp>
        <p:nvSpPr>
          <p:cNvPr id="16" name="TextBox 15"/>
          <p:cNvSpPr txBox="1"/>
          <p:nvPr/>
        </p:nvSpPr>
        <p:spPr>
          <a:xfrm>
            <a:off x="6556248" y="4434840"/>
            <a:ext cx="2286000" cy="292608"/>
          </a:xfrm>
          <a:prstGeom prst="rect">
            <a:avLst/>
          </a:prstGeom>
          <a:noFill/>
        </p:spPr>
        <p:txBody>
          <a:bodyPr wrap="square" lIns="45720" tIns="0" rIns="45720">
            <a:spAutoFit/>
          </a:bodyPr>
          <a:lstStyle/>
          <a:p>
            <a:pPr algn="l"/>
            <a:r>
              <a:rPr b="0" i="0" sz="1200">
                <a:solidFill>
                  <a:srgbClr val="FFFFFF"/>
                </a:solidFill>
                <a:latin typeface="Calibri"/>
              </a:rPr>
              <a:t>GLBRC scarcity-ap-1</a:t>
            </a:r>
          </a:p>
        </p:txBody>
      </p:sp>
      <p:sp>
        <p:nvSpPr>
          <p:cNvPr id="17" name="Rectangle 16"/>
          <p:cNvSpPr/>
          <p:nvPr/>
        </p:nvSpPr>
        <p:spPr>
          <a:xfrm>
            <a:off x="9281160" y="4206240"/>
            <a:ext cx="2560320" cy="566928"/>
          </a:xfrm>
          <a:prstGeom prst="rect">
            <a:avLst/>
          </a:prstGeom>
          <a:solidFill>
            <a:srgbClr val="0D3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90888" y="4233672"/>
            <a:ext cx="914400" cy="201168"/>
          </a:xfrm>
          <a:prstGeom prst="rect">
            <a:avLst/>
          </a:prstGeom>
          <a:noFill/>
        </p:spPr>
        <p:txBody>
          <a:bodyPr wrap="square" lIns="45720" tIns="0" rIns="45720">
            <a:spAutoFit/>
          </a:bodyPr>
          <a:lstStyle/>
          <a:p>
            <a:pPr algn="l"/>
            <a:r>
              <a:rPr b="1" i="0" sz="800">
                <a:solidFill>
                  <a:srgbClr val="1ABC9C"/>
                </a:solidFill>
                <a:latin typeface="Calibri"/>
              </a:rPr>
              <a:t>DATE</a:t>
            </a:r>
          </a:p>
        </p:txBody>
      </p:sp>
      <p:sp>
        <p:nvSpPr>
          <p:cNvPr id="19" name="TextBox 18"/>
          <p:cNvSpPr txBox="1"/>
          <p:nvPr/>
        </p:nvSpPr>
        <p:spPr>
          <a:xfrm>
            <a:off x="9390888" y="4434840"/>
            <a:ext cx="2286000" cy="292608"/>
          </a:xfrm>
          <a:prstGeom prst="rect">
            <a:avLst/>
          </a:prstGeom>
          <a:noFill/>
        </p:spPr>
        <p:txBody>
          <a:bodyPr wrap="square" lIns="45720" tIns="0" rIns="45720">
            <a:spAutoFit/>
          </a:bodyPr>
          <a:lstStyle/>
          <a:p>
            <a:pPr algn="l"/>
            <a:r>
              <a:rPr b="0" i="0" sz="1200">
                <a:solidFill>
                  <a:srgbClr val="FFFFFF"/>
                </a:solidFill>
                <a:latin typeface="Calibri"/>
              </a:rPr>
              <a:t>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4864"/>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515600" cy="731520"/>
          </a:xfrm>
          <a:prstGeom prst="rect">
            <a:avLst/>
          </a:prstGeom>
          <a:noFill/>
        </p:spPr>
        <p:txBody>
          <a:bodyPr wrap="square" lIns="45720" rIns="45720">
            <a:spAutoFit/>
          </a:bodyPr>
          <a:lstStyle/>
          <a:p>
            <a:pPr algn="l"/>
            <a:r>
              <a:rPr b="1" i="0" sz="2800">
                <a:solidFill>
                  <a:srgbClr val="FFFFFF"/>
                </a:solidFill>
                <a:latin typeface="Calibri"/>
              </a:rPr>
              <a:t>Project Overview</a:t>
            </a:r>
          </a:p>
        </p:txBody>
      </p:sp>
      <p:sp>
        <p:nvSpPr>
          <p:cNvPr id="5" name="TextBox 4"/>
          <p:cNvSpPr txBox="1"/>
          <p:nvPr/>
        </p:nvSpPr>
        <p:spPr>
          <a:xfrm>
            <a:off x="365760" y="713232"/>
            <a:ext cx="8229600" cy="320040"/>
          </a:xfrm>
          <a:prstGeom prst="rect">
            <a:avLst/>
          </a:prstGeom>
          <a:noFill/>
        </p:spPr>
        <p:txBody>
          <a:bodyPr wrap="square" lIns="45720" tIns="0" rIns="45720">
            <a:spAutoFit/>
          </a:bodyPr>
          <a:lstStyle/>
          <a:p>
            <a:pPr algn="l"/>
            <a:r>
              <a:rPr b="0" i="1" sz="1300">
                <a:solidFill>
                  <a:srgbClr val="D6EAF8"/>
                </a:solidFill>
                <a:latin typeface="Calibri"/>
              </a:rPr>
              <a:t>Yeast phylogenomics · Y1000+ dataset · Mannose utilization trait</a:t>
            </a:r>
          </a:p>
        </p:txBody>
      </p:sp>
      <p:sp>
        <p:nvSpPr>
          <p:cNvPr id="6" name="Rectangle 5"/>
          <p:cNvSpPr/>
          <p:nvPr/>
        </p:nvSpPr>
        <p:spPr>
          <a:xfrm>
            <a:off x="365760" y="1188720"/>
            <a:ext cx="5394960" cy="539496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25880"/>
            <a:ext cx="5120640" cy="5212080"/>
          </a:xfrm>
          <a:prstGeom prst="rect">
            <a:avLst/>
          </a:prstGeom>
          <a:noFill/>
        </p:spPr>
        <p:txBody>
          <a:bodyPr wrap="square" lIns="137160" tIns="137160" rIns="45720">
            <a:spAutoFit/>
          </a:bodyPr>
          <a:lstStyle/>
          <a:p>
            <a:pPr algn="l">
              <a:spcAft>
                <a:spcPts val="300"/>
              </a:spcAft>
            </a:pPr>
            <a:r>
              <a:rPr sz="1500" b="1" i="0">
                <a:solidFill>
                  <a:srgbClr val="144A7B"/>
                </a:solidFill>
                <a:latin typeface="Calibri"/>
              </a:rPr>
              <a:t>What we are studying</a:t>
            </a:r>
          </a:p>
          <a:p>
            <a:pPr algn="l">
              <a:spcAft>
                <a:spcPts val="300"/>
              </a:spcAft>
            </a:pPr>
            <a:r>
              <a:rPr sz="1200" b="0" i="0">
                <a:latin typeface="Calibri"/>
              </a:rPr>
              <a:t/>
            </a:r>
          </a:p>
          <a:p>
            <a:pPr algn="l">
              <a:spcAft>
                <a:spcPts val="300"/>
              </a:spcAft>
            </a:pPr>
            <a:r>
              <a:rPr sz="1200" b="0" i="0">
                <a:solidFill>
                  <a:srgbClr val="1A1A2E"/>
                </a:solidFill>
                <a:latin typeface="Calibri"/>
              </a:rPr>
              <a:t>267 focal yeast species from the Y1000+ Saccharomycotina dataset, spanning the full breadth of the subphylum.</a:t>
            </a:r>
          </a:p>
          <a:p>
            <a:pPr algn="l">
              <a:spcAft>
                <a:spcPts val="300"/>
              </a:spcAft>
            </a:pPr>
            <a:r>
              <a:rPr sz="1200" b="0" i="0">
                <a:latin typeface="Calibri"/>
              </a:rPr>
              <a:t/>
            </a:r>
          </a:p>
          <a:p>
            <a:pPr algn="l">
              <a:spcAft>
                <a:spcPts val="300"/>
              </a:spcAft>
            </a:pPr>
            <a:r>
              <a:rPr sz="1200" b="0" i="0">
                <a:solidFill>
                  <a:srgbClr val="1A1A2E"/>
                </a:solidFill>
                <a:latin typeface="Calibri"/>
              </a:rPr>
              <a:t>ML models identified orthogroups (OGs) — gene-family 'buckets' — associated with the mannose growth phenotype.</a:t>
            </a:r>
          </a:p>
          <a:p>
            <a:pPr algn="l">
              <a:spcAft>
                <a:spcPts val="300"/>
              </a:spcAft>
            </a:pPr>
            <a:r>
              <a:rPr sz="1200" b="0" i="0">
                <a:latin typeface="Calibri"/>
              </a:rPr>
              <a:t/>
            </a:r>
          </a:p>
          <a:p>
            <a:pPr algn="l">
              <a:spcAft>
                <a:spcPts val="300"/>
              </a:spcAft>
            </a:pPr>
            <a:r>
              <a:rPr sz="1200" b="0" i="0">
                <a:solidFill>
                  <a:srgbClr val="1A1A2E"/>
                </a:solidFill>
                <a:latin typeface="Calibri"/>
              </a:rPr>
              <a:t>MSA is performed per orthogroup (not per species) because each species may contribute 0, 1, or multiple paralogs per OG.</a:t>
            </a:r>
          </a:p>
          <a:p>
            <a:pPr algn="l">
              <a:spcAft>
                <a:spcPts val="300"/>
              </a:spcAft>
            </a:pPr>
            <a:r>
              <a:rPr sz="1200" b="0" i="0">
                <a:latin typeface="Calibri"/>
              </a:rPr>
              <a:t/>
            </a:r>
          </a:p>
          <a:p>
            <a:pPr algn="l">
              <a:spcAft>
                <a:spcPts val="300"/>
              </a:spcAft>
            </a:pPr>
            <a:r>
              <a:rPr sz="1200" b="0" i="0">
                <a:solidFill>
                  <a:srgbClr val="1A1A2E"/>
                </a:solidFill>
                <a:latin typeface="Calibri"/>
              </a:rPr>
              <a:t>A test run on OG0000007 validated the full pipeline:</a:t>
            </a:r>
          </a:p>
          <a:p>
            <a:pPr algn="l">
              <a:spcAft>
                <a:spcPts val="300"/>
              </a:spcAft>
            </a:pPr>
            <a:r>
              <a:rPr sz="1200" b="1" i="0">
                <a:solidFill>
                  <a:srgbClr val="1ABC9C"/>
                </a:solidFill>
                <a:latin typeface="Calibri"/>
              </a:rPr>
              <a:t>Best-fit model: Q.YEAST+F+R10 (BIC)</a:t>
            </a:r>
          </a:p>
        </p:txBody>
      </p:sp>
      <p:sp>
        <p:nvSpPr>
          <p:cNvPr id="8" name="Rectangle 7"/>
          <p:cNvSpPr/>
          <p:nvPr/>
        </p:nvSpPr>
        <p:spPr>
          <a:xfrm>
            <a:off x="6035040" y="1234440"/>
            <a:ext cx="5760720" cy="804672"/>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289304"/>
            <a:ext cx="5394960" cy="320040"/>
          </a:xfrm>
          <a:prstGeom prst="rect">
            <a:avLst/>
          </a:prstGeom>
          <a:noFill/>
        </p:spPr>
        <p:txBody>
          <a:bodyPr wrap="square" lIns="45720" tIns="0" rIns="45720">
            <a:spAutoFit/>
          </a:bodyPr>
          <a:lstStyle/>
          <a:p>
            <a:pPr algn="l"/>
            <a:r>
              <a:rPr b="1" i="0" sz="1200">
                <a:solidFill>
                  <a:srgbClr val="FFFFFF"/>
                </a:solidFill>
                <a:latin typeface="Calibri"/>
              </a:rPr>
              <a:t>① Preprocessing (Local)</a:t>
            </a:r>
          </a:p>
        </p:txBody>
      </p:sp>
      <p:sp>
        <p:nvSpPr>
          <p:cNvPr id="10" name="TextBox 9"/>
          <p:cNvSpPr txBox="1"/>
          <p:nvPr/>
        </p:nvSpPr>
        <p:spPr>
          <a:xfrm>
            <a:off x="6172200" y="1618488"/>
            <a:ext cx="5394960" cy="347472"/>
          </a:xfrm>
          <a:prstGeom prst="rect">
            <a:avLst/>
          </a:prstGeom>
          <a:noFill/>
        </p:spPr>
        <p:txBody>
          <a:bodyPr wrap="square" lIns="45720" tIns="0" rIns="45720">
            <a:spAutoFit/>
          </a:bodyPr>
          <a:lstStyle/>
          <a:p>
            <a:pPr algn="l"/>
            <a:r>
              <a:rPr b="0" i="0" sz="1050">
                <a:solidFill>
                  <a:srgbClr val="D5EAF8"/>
                </a:solidFill>
                <a:latin typeface="Calibri"/>
              </a:rPr>
              <a:t>Subset FASTAs → MAFFT align → TrimAl trim</a:t>
            </a:r>
          </a:p>
        </p:txBody>
      </p:sp>
      <p:sp>
        <p:nvSpPr>
          <p:cNvPr id="11" name="Rectangle 10"/>
          <p:cNvSpPr/>
          <p:nvPr/>
        </p:nvSpPr>
        <p:spPr>
          <a:xfrm>
            <a:off x="6035040" y="2167128"/>
            <a:ext cx="5760720" cy="804672"/>
          </a:xfrm>
          <a:prstGeom prst="rect">
            <a:avLst/>
          </a:prstGeom>
          <a:solidFill>
            <a:srgbClr val="167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2221992"/>
            <a:ext cx="5394960" cy="320040"/>
          </a:xfrm>
          <a:prstGeom prst="rect">
            <a:avLst/>
          </a:prstGeom>
          <a:noFill/>
        </p:spPr>
        <p:txBody>
          <a:bodyPr wrap="square" lIns="45720" tIns="0" rIns="45720">
            <a:spAutoFit/>
          </a:bodyPr>
          <a:lstStyle/>
          <a:p>
            <a:pPr algn="l"/>
            <a:r>
              <a:rPr b="1" i="0" sz="1200">
                <a:solidFill>
                  <a:srgbClr val="FFFFFF"/>
                </a:solidFill>
                <a:latin typeface="Calibri"/>
              </a:rPr>
              <a:t>② Phase 1 · Model Selection</a:t>
            </a:r>
          </a:p>
        </p:txBody>
      </p:sp>
      <p:sp>
        <p:nvSpPr>
          <p:cNvPr id="13" name="TextBox 12"/>
          <p:cNvSpPr txBox="1"/>
          <p:nvPr/>
        </p:nvSpPr>
        <p:spPr>
          <a:xfrm>
            <a:off x="6172200" y="2551176"/>
            <a:ext cx="5394960" cy="347472"/>
          </a:xfrm>
          <a:prstGeom prst="rect">
            <a:avLst/>
          </a:prstGeom>
          <a:noFill/>
        </p:spPr>
        <p:txBody>
          <a:bodyPr wrap="square" lIns="45720" tIns="0" rIns="45720">
            <a:spAutoFit/>
          </a:bodyPr>
          <a:lstStyle/>
          <a:p>
            <a:pPr algn="l"/>
            <a:r>
              <a:rPr b="0" i="0" sz="1050">
                <a:solidFill>
                  <a:srgbClr val="D5EAF8"/>
                </a:solidFill>
                <a:latin typeface="Calibri"/>
              </a:rPr>
              <a:t>IQ-TREE ModelFinder — 1,232 models per OG</a:t>
            </a:r>
          </a:p>
        </p:txBody>
      </p:sp>
      <p:sp>
        <p:nvSpPr>
          <p:cNvPr id="14" name="Rectangle 13"/>
          <p:cNvSpPr/>
          <p:nvPr/>
        </p:nvSpPr>
        <p:spPr>
          <a:xfrm>
            <a:off x="6035040" y="3099816"/>
            <a:ext cx="5760720" cy="804672"/>
          </a:xfrm>
          <a:prstGeom prst="rect">
            <a:avLst/>
          </a:prstGeom>
          <a:solidFill>
            <a:srgbClr val="117A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3154680"/>
            <a:ext cx="5394960" cy="320040"/>
          </a:xfrm>
          <a:prstGeom prst="rect">
            <a:avLst/>
          </a:prstGeom>
          <a:noFill/>
        </p:spPr>
        <p:txBody>
          <a:bodyPr wrap="square" lIns="45720" tIns="0" rIns="45720">
            <a:spAutoFit/>
          </a:bodyPr>
          <a:lstStyle/>
          <a:p>
            <a:pPr algn="l"/>
            <a:r>
              <a:rPr b="1" i="0" sz="1200">
                <a:solidFill>
                  <a:srgbClr val="FFFFFF"/>
                </a:solidFill>
                <a:latin typeface="Calibri"/>
              </a:rPr>
              <a:t>③ Phase 2a · ML Trees</a:t>
            </a:r>
          </a:p>
        </p:txBody>
      </p:sp>
      <p:sp>
        <p:nvSpPr>
          <p:cNvPr id="16" name="TextBox 15"/>
          <p:cNvSpPr txBox="1"/>
          <p:nvPr/>
        </p:nvSpPr>
        <p:spPr>
          <a:xfrm>
            <a:off x="6172200" y="3483864"/>
            <a:ext cx="5394960" cy="347472"/>
          </a:xfrm>
          <a:prstGeom prst="rect">
            <a:avLst/>
          </a:prstGeom>
          <a:noFill/>
        </p:spPr>
        <p:txBody>
          <a:bodyPr wrap="square" lIns="45720" tIns="0" rIns="45720">
            <a:spAutoFit/>
          </a:bodyPr>
          <a:lstStyle/>
          <a:p>
            <a:pPr algn="l"/>
            <a:r>
              <a:rPr b="0" i="0" sz="1050">
                <a:solidFill>
                  <a:srgbClr val="D5EAF8"/>
                </a:solidFill>
                <a:latin typeface="Calibri"/>
              </a:rPr>
              <a:t>RAxML-NG — per-OG model, 100 bootstraps</a:t>
            </a:r>
          </a:p>
        </p:txBody>
      </p:sp>
      <p:sp>
        <p:nvSpPr>
          <p:cNvPr id="17" name="Rectangle 16"/>
          <p:cNvSpPr/>
          <p:nvPr/>
        </p:nvSpPr>
        <p:spPr>
          <a:xfrm>
            <a:off x="6035040" y="4032504"/>
            <a:ext cx="5760720" cy="804672"/>
          </a:xfrm>
          <a:prstGeom prst="rect">
            <a:avLst/>
          </a:prstGeom>
          <a:solidFill>
            <a:srgbClr val="7D3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0" y="4087368"/>
            <a:ext cx="5394960" cy="320040"/>
          </a:xfrm>
          <a:prstGeom prst="rect">
            <a:avLst/>
          </a:prstGeom>
          <a:noFill/>
        </p:spPr>
        <p:txBody>
          <a:bodyPr wrap="square" lIns="45720" tIns="0" rIns="45720">
            <a:spAutoFit/>
          </a:bodyPr>
          <a:lstStyle/>
          <a:p>
            <a:pPr algn="l"/>
            <a:r>
              <a:rPr b="1" i="0" sz="1200">
                <a:solidFill>
                  <a:srgbClr val="FFFFFF"/>
                </a:solidFill>
                <a:latin typeface="Calibri"/>
              </a:rPr>
              <a:t>④ Phase 2b · Bayesian Trees</a:t>
            </a:r>
          </a:p>
        </p:txBody>
      </p:sp>
      <p:sp>
        <p:nvSpPr>
          <p:cNvPr id="19" name="TextBox 18"/>
          <p:cNvSpPr txBox="1"/>
          <p:nvPr/>
        </p:nvSpPr>
        <p:spPr>
          <a:xfrm>
            <a:off x="6172200" y="4416552"/>
            <a:ext cx="5394960" cy="347472"/>
          </a:xfrm>
          <a:prstGeom prst="rect">
            <a:avLst/>
          </a:prstGeom>
          <a:noFill/>
        </p:spPr>
        <p:txBody>
          <a:bodyPr wrap="square" lIns="45720" tIns="0" rIns="45720">
            <a:spAutoFit/>
          </a:bodyPr>
          <a:lstStyle/>
          <a:p>
            <a:pPr algn="l"/>
            <a:r>
              <a:rPr b="0" i="0" sz="1050">
                <a:solidFill>
                  <a:srgbClr val="D5EAF8"/>
                </a:solidFill>
                <a:latin typeface="Calibri"/>
              </a:rPr>
              <a:t>BEAST2 — relaxed clock, MRCA calibration</a:t>
            </a:r>
          </a:p>
        </p:txBody>
      </p:sp>
      <p:sp>
        <p:nvSpPr>
          <p:cNvPr id="20" name="Rectangle 19"/>
          <p:cNvSpPr/>
          <p:nvPr/>
        </p:nvSpPr>
        <p:spPr>
          <a:xfrm>
            <a:off x="6035040" y="4965192"/>
            <a:ext cx="5760720" cy="804672"/>
          </a:xfrm>
          <a:prstGeom prst="rect">
            <a:avLst/>
          </a:prstGeom>
          <a:solidFill>
            <a:srgbClr val="1A5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5020055"/>
            <a:ext cx="5394960" cy="320040"/>
          </a:xfrm>
          <a:prstGeom prst="rect">
            <a:avLst/>
          </a:prstGeom>
          <a:noFill/>
        </p:spPr>
        <p:txBody>
          <a:bodyPr wrap="square" lIns="45720" tIns="0" rIns="45720">
            <a:spAutoFit/>
          </a:bodyPr>
          <a:lstStyle/>
          <a:p>
            <a:pPr algn="l"/>
            <a:r>
              <a:rPr b="1" i="0" sz="1200">
                <a:solidFill>
                  <a:srgbClr val="FFFFFF"/>
                </a:solidFill>
                <a:latin typeface="Calibri"/>
              </a:rPr>
              <a:t>⑤ Phase 2c · Species Tree</a:t>
            </a:r>
          </a:p>
        </p:txBody>
      </p:sp>
      <p:sp>
        <p:nvSpPr>
          <p:cNvPr id="22" name="TextBox 21"/>
          <p:cNvSpPr txBox="1"/>
          <p:nvPr/>
        </p:nvSpPr>
        <p:spPr>
          <a:xfrm>
            <a:off x="6172200" y="5349240"/>
            <a:ext cx="5394960" cy="347472"/>
          </a:xfrm>
          <a:prstGeom prst="rect">
            <a:avLst/>
          </a:prstGeom>
          <a:noFill/>
        </p:spPr>
        <p:txBody>
          <a:bodyPr wrap="square" lIns="45720" tIns="0" rIns="45720">
            <a:spAutoFit/>
          </a:bodyPr>
          <a:lstStyle/>
          <a:p>
            <a:pPr algn="l"/>
            <a:r>
              <a:rPr b="0" i="0" sz="1050">
                <a:solidFill>
                  <a:srgbClr val="D5EAF8"/>
                </a:solidFill>
                <a:latin typeface="Calibri"/>
              </a:rPr>
              <a:t>ASTRAL — multi-species coalescent</a:t>
            </a:r>
          </a:p>
        </p:txBody>
      </p:sp>
      <p:sp>
        <p:nvSpPr>
          <p:cNvPr id="23" name="Rectangle 22"/>
          <p:cNvSpPr/>
          <p:nvPr/>
        </p:nvSpPr>
        <p:spPr>
          <a:xfrm>
            <a:off x="6035040" y="5897879"/>
            <a:ext cx="5760720" cy="804672"/>
          </a:xfrm>
          <a:prstGeom prst="rect">
            <a:avLst/>
          </a:prstGeom>
          <a:solidFill>
            <a:srgbClr val="B74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72200" y="5952743"/>
            <a:ext cx="5394960" cy="320040"/>
          </a:xfrm>
          <a:prstGeom prst="rect">
            <a:avLst/>
          </a:prstGeom>
          <a:noFill/>
        </p:spPr>
        <p:txBody>
          <a:bodyPr wrap="square" lIns="45720" tIns="0" rIns="45720">
            <a:spAutoFit/>
          </a:bodyPr>
          <a:lstStyle/>
          <a:p>
            <a:pPr algn="l"/>
            <a:r>
              <a:rPr b="1" i="0" sz="1200">
                <a:solidFill>
                  <a:srgbClr val="FFFFFF"/>
                </a:solidFill>
                <a:latin typeface="Calibri"/>
              </a:rPr>
              <a:t>⑥ Phase 3 · D-statistic</a:t>
            </a:r>
          </a:p>
        </p:txBody>
      </p:sp>
      <p:sp>
        <p:nvSpPr>
          <p:cNvPr id="25" name="TextBox 24"/>
          <p:cNvSpPr txBox="1"/>
          <p:nvPr/>
        </p:nvSpPr>
        <p:spPr>
          <a:xfrm>
            <a:off x="6172200" y="6281927"/>
            <a:ext cx="5394960" cy="347472"/>
          </a:xfrm>
          <a:prstGeom prst="rect">
            <a:avLst/>
          </a:prstGeom>
          <a:noFill/>
        </p:spPr>
        <p:txBody>
          <a:bodyPr wrap="square" lIns="45720" tIns="0" rIns="45720">
            <a:spAutoFit/>
          </a:bodyPr>
          <a:lstStyle/>
          <a:p>
            <a:pPr algn="l"/>
            <a:r>
              <a:rPr b="0" i="0" sz="1050">
                <a:solidFill>
                  <a:srgbClr val="D5EAF8"/>
                </a:solidFill>
                <a:latin typeface="Calibri"/>
              </a:rPr>
              <a:t>R/caper::phylo.d() — phylogenetic signal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4864"/>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515600" cy="731520"/>
          </a:xfrm>
          <a:prstGeom prst="rect">
            <a:avLst/>
          </a:prstGeom>
          <a:noFill/>
        </p:spPr>
        <p:txBody>
          <a:bodyPr wrap="square" lIns="45720" rIns="45720">
            <a:spAutoFit/>
          </a:bodyPr>
          <a:lstStyle/>
          <a:p>
            <a:pPr algn="l"/>
            <a:r>
              <a:rPr b="1" i="0" sz="2800">
                <a:solidFill>
                  <a:srgbClr val="FFFFFF"/>
                </a:solidFill>
                <a:latin typeface="Calibri"/>
              </a:rPr>
              <a:t>Research Questions</a:t>
            </a:r>
          </a:p>
        </p:txBody>
      </p:sp>
      <p:sp>
        <p:nvSpPr>
          <p:cNvPr id="5" name="TextBox 4"/>
          <p:cNvSpPr txBox="1"/>
          <p:nvPr/>
        </p:nvSpPr>
        <p:spPr>
          <a:xfrm>
            <a:off x="365760" y="713232"/>
            <a:ext cx="8229600" cy="320040"/>
          </a:xfrm>
          <a:prstGeom prst="rect">
            <a:avLst/>
          </a:prstGeom>
          <a:noFill/>
        </p:spPr>
        <p:txBody>
          <a:bodyPr wrap="square" lIns="45720" tIns="0" rIns="45720">
            <a:spAutoFit/>
          </a:bodyPr>
          <a:lstStyle/>
          <a:p>
            <a:pPr algn="l"/>
            <a:r>
              <a:rPr b="0" i="1" sz="1300">
                <a:solidFill>
                  <a:srgbClr val="D6EAF8"/>
                </a:solidFill>
                <a:latin typeface="Calibri"/>
              </a:rPr>
              <a:t>Four guiding questions driving the pipeline design</a:t>
            </a:r>
          </a:p>
        </p:txBody>
      </p:sp>
      <p:sp>
        <p:nvSpPr>
          <p:cNvPr id="6" name="Rectangle 5"/>
          <p:cNvSpPr/>
          <p:nvPr/>
        </p:nvSpPr>
        <p:spPr>
          <a:xfrm>
            <a:off x="365760" y="1234440"/>
            <a:ext cx="5349240" cy="2514600"/>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737360"/>
            <a:ext cx="5349240" cy="20116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307592"/>
            <a:ext cx="5129783" cy="411480"/>
          </a:xfrm>
          <a:prstGeom prst="rect">
            <a:avLst/>
          </a:prstGeom>
          <a:noFill/>
        </p:spPr>
        <p:txBody>
          <a:bodyPr wrap="square" lIns="45720" tIns="0" rIns="45720">
            <a:spAutoFit/>
          </a:bodyPr>
          <a:lstStyle/>
          <a:p>
            <a:pPr algn="l"/>
            <a:r>
              <a:rPr b="1" i="0" sz="1200">
                <a:solidFill>
                  <a:srgbClr val="FFFFFF"/>
                </a:solidFill>
                <a:latin typeface="Calibri"/>
              </a:rPr>
              <a:t>RQ1 — Evolutionary History</a:t>
            </a:r>
          </a:p>
        </p:txBody>
      </p:sp>
      <p:sp>
        <p:nvSpPr>
          <p:cNvPr id="9" name="TextBox 8"/>
          <p:cNvSpPr txBox="1"/>
          <p:nvPr/>
        </p:nvSpPr>
        <p:spPr>
          <a:xfrm>
            <a:off x="502920" y="1801368"/>
            <a:ext cx="5074920" cy="640080"/>
          </a:xfrm>
          <a:prstGeom prst="rect">
            <a:avLst/>
          </a:prstGeom>
          <a:noFill/>
        </p:spPr>
        <p:txBody>
          <a:bodyPr wrap="square" lIns="45720" tIns="0" rIns="45720">
            <a:spAutoFit/>
          </a:bodyPr>
          <a:lstStyle/>
          <a:p>
            <a:pPr algn="l"/>
            <a:r>
              <a:rPr b="1" i="0" sz="1100">
                <a:solidFill>
                  <a:srgbClr val="144A7B"/>
                </a:solidFill>
                <a:latin typeface="Calibri"/>
              </a:rPr>
              <a:t>How has the genetic basis for mannose metabolism evolved across Saccharomycotina?</a:t>
            </a:r>
          </a:p>
        </p:txBody>
      </p:sp>
      <p:sp>
        <p:nvSpPr>
          <p:cNvPr id="10" name="TextBox 9"/>
          <p:cNvSpPr txBox="1"/>
          <p:nvPr/>
        </p:nvSpPr>
        <p:spPr>
          <a:xfrm>
            <a:off x="502920" y="2468880"/>
            <a:ext cx="5074920" cy="1097280"/>
          </a:xfrm>
          <a:prstGeom prst="rect">
            <a:avLst/>
          </a:prstGeom>
          <a:noFill/>
        </p:spPr>
        <p:txBody>
          <a:bodyPr wrap="square" lIns="45720" tIns="0" rIns="45720">
            <a:spAutoFit/>
          </a:bodyPr>
          <a:lstStyle/>
          <a:p>
            <a:pPr algn="l"/>
            <a:r>
              <a:rPr b="0" i="0" sz="1000">
                <a:solidFill>
                  <a:srgbClr val="1A1A2E"/>
                </a:solidFill>
                <a:latin typeface="Calibri"/>
              </a:rPr>
              <a:t>RAxML-NG ML trees + BEAST2 time-calibrated chronograms with MRCA anchors reveal divergence timing (mya) across all 267 species.</a:t>
            </a:r>
          </a:p>
        </p:txBody>
      </p:sp>
      <p:sp>
        <p:nvSpPr>
          <p:cNvPr id="11" name="Rectangle 10"/>
          <p:cNvSpPr/>
          <p:nvPr/>
        </p:nvSpPr>
        <p:spPr>
          <a:xfrm>
            <a:off x="6446520" y="1234440"/>
            <a:ext cx="5349240" cy="2514600"/>
          </a:xfrm>
          <a:prstGeom prst="rect">
            <a:avLst/>
          </a:prstGeom>
          <a:solidFill>
            <a:srgbClr val="117A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46520" y="1737360"/>
            <a:ext cx="5349240" cy="20116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56248" y="1307592"/>
            <a:ext cx="5129783" cy="411480"/>
          </a:xfrm>
          <a:prstGeom prst="rect">
            <a:avLst/>
          </a:prstGeom>
          <a:noFill/>
        </p:spPr>
        <p:txBody>
          <a:bodyPr wrap="square" lIns="45720" tIns="0" rIns="45720">
            <a:spAutoFit/>
          </a:bodyPr>
          <a:lstStyle/>
          <a:p>
            <a:pPr algn="l"/>
            <a:r>
              <a:rPr b="1" i="0" sz="1200">
                <a:solidFill>
                  <a:srgbClr val="FFFFFF"/>
                </a:solidFill>
                <a:latin typeface="Calibri"/>
              </a:rPr>
              <a:t>RQ2 — Phenotype Mapping</a:t>
            </a:r>
          </a:p>
        </p:txBody>
      </p:sp>
      <p:sp>
        <p:nvSpPr>
          <p:cNvPr id="14" name="TextBox 13"/>
          <p:cNvSpPr txBox="1"/>
          <p:nvPr/>
        </p:nvSpPr>
        <p:spPr>
          <a:xfrm>
            <a:off x="6583680" y="1801368"/>
            <a:ext cx="5074920" cy="640080"/>
          </a:xfrm>
          <a:prstGeom prst="rect">
            <a:avLst/>
          </a:prstGeom>
          <a:noFill/>
        </p:spPr>
        <p:txBody>
          <a:bodyPr wrap="square" lIns="45720" tIns="0" rIns="45720">
            <a:spAutoFit/>
          </a:bodyPr>
          <a:lstStyle/>
          <a:p>
            <a:pPr algn="l"/>
            <a:r>
              <a:rPr b="1" i="0" sz="1100">
                <a:solidFill>
                  <a:srgbClr val="144A7B"/>
                </a:solidFill>
                <a:latin typeface="Calibri"/>
              </a:rPr>
              <a:t>Does evolutionary history dictate whether a species can grow on mannose?</a:t>
            </a:r>
          </a:p>
        </p:txBody>
      </p:sp>
      <p:sp>
        <p:nvSpPr>
          <p:cNvPr id="15" name="TextBox 14"/>
          <p:cNvSpPr txBox="1"/>
          <p:nvPr/>
        </p:nvSpPr>
        <p:spPr>
          <a:xfrm>
            <a:off x="6583680" y="2468880"/>
            <a:ext cx="5074920" cy="1097280"/>
          </a:xfrm>
          <a:prstGeom prst="rect">
            <a:avLst/>
          </a:prstGeom>
          <a:noFill/>
        </p:spPr>
        <p:txBody>
          <a:bodyPr wrap="square" lIns="45720" tIns="0" rIns="45720">
            <a:spAutoFit/>
          </a:bodyPr>
          <a:lstStyle/>
          <a:p>
            <a:pPr algn="l"/>
            <a:r>
              <a:rPr b="0" i="0" sz="1000">
                <a:solidFill>
                  <a:srgbClr val="1A1A2E"/>
                </a:solidFill>
                <a:latin typeface="Calibri"/>
              </a:rPr>
              <a:t>Binary trait data (1=growth, 0=no growth) from mannose_traits.csv is mapped onto BEAST2 chronograms in FigTree to identify gain/loss events.</a:t>
            </a:r>
          </a:p>
        </p:txBody>
      </p:sp>
      <p:sp>
        <p:nvSpPr>
          <p:cNvPr id="16" name="Rectangle 15"/>
          <p:cNvSpPr/>
          <p:nvPr/>
        </p:nvSpPr>
        <p:spPr>
          <a:xfrm>
            <a:off x="365760" y="3977639"/>
            <a:ext cx="5349240" cy="2514600"/>
          </a:xfrm>
          <a:prstGeom prst="rect">
            <a:avLst/>
          </a:prstGeom>
          <a:solidFill>
            <a:srgbClr val="7D3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4480559"/>
            <a:ext cx="5349240" cy="20116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 y="4050791"/>
            <a:ext cx="5129783" cy="411480"/>
          </a:xfrm>
          <a:prstGeom prst="rect">
            <a:avLst/>
          </a:prstGeom>
          <a:noFill/>
        </p:spPr>
        <p:txBody>
          <a:bodyPr wrap="square" lIns="45720" tIns="0" rIns="45720">
            <a:spAutoFit/>
          </a:bodyPr>
          <a:lstStyle/>
          <a:p>
            <a:pPr algn="l"/>
            <a:r>
              <a:rPr b="1" i="0" sz="1200">
                <a:solidFill>
                  <a:srgbClr val="FFFFFF"/>
                </a:solidFill>
                <a:latin typeface="Calibri"/>
              </a:rPr>
              <a:t>RQ3 — Phylogenetic Signal</a:t>
            </a:r>
          </a:p>
        </p:txBody>
      </p:sp>
      <p:sp>
        <p:nvSpPr>
          <p:cNvPr id="19" name="TextBox 18"/>
          <p:cNvSpPr txBox="1"/>
          <p:nvPr/>
        </p:nvSpPr>
        <p:spPr>
          <a:xfrm>
            <a:off x="502920" y="4544568"/>
            <a:ext cx="5074920" cy="640080"/>
          </a:xfrm>
          <a:prstGeom prst="rect">
            <a:avLst/>
          </a:prstGeom>
          <a:noFill/>
        </p:spPr>
        <p:txBody>
          <a:bodyPr wrap="square" lIns="45720" tIns="0" rIns="45720">
            <a:spAutoFit/>
          </a:bodyPr>
          <a:lstStyle/>
          <a:p>
            <a:pPr algn="l"/>
            <a:r>
              <a:rPr b="1" i="0" sz="1100">
                <a:solidFill>
                  <a:srgbClr val="144A7B"/>
                </a:solidFill>
                <a:latin typeface="Calibri"/>
              </a:rPr>
              <a:t>Does mannose growth ability show phylogenetic signal across gene trees?</a:t>
            </a:r>
          </a:p>
        </p:txBody>
      </p:sp>
      <p:sp>
        <p:nvSpPr>
          <p:cNvPr id="20" name="TextBox 19"/>
          <p:cNvSpPr txBox="1"/>
          <p:nvPr/>
        </p:nvSpPr>
        <p:spPr>
          <a:xfrm>
            <a:off x="502920" y="5212079"/>
            <a:ext cx="5074920" cy="1097280"/>
          </a:xfrm>
          <a:prstGeom prst="rect">
            <a:avLst/>
          </a:prstGeom>
          <a:noFill/>
        </p:spPr>
        <p:txBody>
          <a:bodyPr wrap="square" lIns="45720" tIns="0" rIns="45720">
            <a:spAutoFit/>
          </a:bodyPr>
          <a:lstStyle/>
          <a:p>
            <a:pPr algn="l"/>
            <a:r>
              <a:rPr b="0" i="0" sz="1000">
                <a:solidFill>
                  <a:srgbClr val="1A1A2E"/>
                </a:solidFill>
                <a:latin typeface="Calibri"/>
              </a:rPr>
              <a:t>D-statistic (Fritz &amp; Purvis 2010) via caper::phylo.d() tests whether the trait is clustered (D≈0), random (D≈1), or overdispersed (D&gt;1).</a:t>
            </a:r>
          </a:p>
        </p:txBody>
      </p:sp>
      <p:sp>
        <p:nvSpPr>
          <p:cNvPr id="21" name="Rectangle 20"/>
          <p:cNvSpPr/>
          <p:nvPr/>
        </p:nvSpPr>
        <p:spPr>
          <a:xfrm>
            <a:off x="6446520" y="3977639"/>
            <a:ext cx="5349240" cy="2514600"/>
          </a:xfrm>
          <a:prstGeom prst="rect">
            <a:avLst/>
          </a:prstGeom>
          <a:solidFill>
            <a:srgbClr val="B74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46520" y="4480559"/>
            <a:ext cx="5349240" cy="20116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56248" y="4050791"/>
            <a:ext cx="5129783" cy="411480"/>
          </a:xfrm>
          <a:prstGeom prst="rect">
            <a:avLst/>
          </a:prstGeom>
          <a:noFill/>
        </p:spPr>
        <p:txBody>
          <a:bodyPr wrap="square" lIns="45720" tIns="0" rIns="45720">
            <a:spAutoFit/>
          </a:bodyPr>
          <a:lstStyle/>
          <a:p>
            <a:pPr algn="l"/>
            <a:r>
              <a:rPr b="1" i="0" sz="1200">
                <a:solidFill>
                  <a:srgbClr val="FFFFFF"/>
                </a:solidFill>
                <a:latin typeface="Calibri"/>
              </a:rPr>
              <a:t>RQ4 — Model Selection</a:t>
            </a:r>
          </a:p>
        </p:txBody>
      </p:sp>
      <p:sp>
        <p:nvSpPr>
          <p:cNvPr id="24" name="TextBox 23"/>
          <p:cNvSpPr txBox="1"/>
          <p:nvPr/>
        </p:nvSpPr>
        <p:spPr>
          <a:xfrm>
            <a:off x="6583680" y="4544568"/>
            <a:ext cx="5074920" cy="640080"/>
          </a:xfrm>
          <a:prstGeom prst="rect">
            <a:avLst/>
          </a:prstGeom>
          <a:noFill/>
        </p:spPr>
        <p:txBody>
          <a:bodyPr wrap="square" lIns="45720" tIns="0" rIns="45720">
            <a:spAutoFit/>
          </a:bodyPr>
          <a:lstStyle/>
          <a:p>
            <a:pPr algn="l"/>
            <a:r>
              <a:rPr b="1" i="0" sz="1100">
                <a:solidFill>
                  <a:srgbClr val="144A7B"/>
                </a:solidFill>
                <a:latin typeface="Calibri"/>
              </a:rPr>
              <a:t>Which substitution model best fits each orthogroup alignment?</a:t>
            </a:r>
          </a:p>
        </p:txBody>
      </p:sp>
      <p:sp>
        <p:nvSpPr>
          <p:cNvPr id="25" name="TextBox 24"/>
          <p:cNvSpPr txBox="1"/>
          <p:nvPr/>
        </p:nvSpPr>
        <p:spPr>
          <a:xfrm>
            <a:off x="6583680" y="5212079"/>
            <a:ext cx="5074920" cy="1097280"/>
          </a:xfrm>
          <a:prstGeom prst="rect">
            <a:avLst/>
          </a:prstGeom>
          <a:noFill/>
        </p:spPr>
        <p:txBody>
          <a:bodyPr wrap="square" lIns="45720" tIns="0" rIns="45720">
            <a:spAutoFit/>
          </a:bodyPr>
          <a:lstStyle/>
          <a:p>
            <a:pPr algn="l"/>
            <a:r>
              <a:rPr b="0" i="0" sz="1000">
                <a:solidFill>
                  <a:srgbClr val="1A1A2E"/>
                </a:solidFill>
                <a:latin typeface="Calibri"/>
              </a:rPr>
              <a:t>IQ-TREE ModelFinder tests 1,232 models per alignment, selecting the best by BIC. Per-OG models replace the old hardcoded LG approach.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4864"/>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515600" cy="731520"/>
          </a:xfrm>
          <a:prstGeom prst="rect">
            <a:avLst/>
          </a:prstGeom>
          <a:noFill/>
        </p:spPr>
        <p:txBody>
          <a:bodyPr wrap="square" lIns="45720" rIns="45720">
            <a:spAutoFit/>
          </a:bodyPr>
          <a:lstStyle/>
          <a:p>
            <a:pPr algn="l"/>
            <a:r>
              <a:rPr b="1" i="0" sz="2800">
                <a:solidFill>
                  <a:srgbClr val="FFFFFF"/>
                </a:solidFill>
                <a:latin typeface="Calibri"/>
              </a:rPr>
              <a:t>Dataset &amp; Environment</a:t>
            </a:r>
          </a:p>
        </p:txBody>
      </p:sp>
      <p:sp>
        <p:nvSpPr>
          <p:cNvPr id="5" name="TextBox 4"/>
          <p:cNvSpPr txBox="1"/>
          <p:nvPr/>
        </p:nvSpPr>
        <p:spPr>
          <a:xfrm>
            <a:off x="365760" y="713232"/>
            <a:ext cx="8229600" cy="320040"/>
          </a:xfrm>
          <a:prstGeom prst="rect">
            <a:avLst/>
          </a:prstGeom>
          <a:noFill/>
        </p:spPr>
        <p:txBody>
          <a:bodyPr wrap="square" lIns="45720" tIns="0" rIns="45720">
            <a:spAutoFit/>
          </a:bodyPr>
          <a:lstStyle/>
          <a:p>
            <a:pPr algn="l"/>
            <a:r>
              <a:rPr b="0" i="1" sz="1300">
                <a:solidFill>
                  <a:srgbClr val="D6EAF8"/>
                </a:solidFill>
                <a:latin typeface="Calibri"/>
              </a:rPr>
              <a:t>Y1000+ · 267 Saccharomycotina species · conda environment</a:t>
            </a:r>
          </a:p>
        </p:txBody>
      </p:sp>
      <p:sp>
        <p:nvSpPr>
          <p:cNvPr id="6" name="Rectangle 5"/>
          <p:cNvSpPr/>
          <p:nvPr/>
        </p:nvSpPr>
        <p:spPr>
          <a:xfrm>
            <a:off x="365760" y="1234440"/>
            <a:ext cx="2743200" cy="1371600"/>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298448"/>
            <a:ext cx="2560320" cy="777240"/>
          </a:xfrm>
          <a:prstGeom prst="rect">
            <a:avLst/>
          </a:prstGeom>
          <a:noFill/>
        </p:spPr>
        <p:txBody>
          <a:bodyPr wrap="square" lIns="0" tIns="0" rIns="45720">
            <a:spAutoFit/>
          </a:bodyPr>
          <a:lstStyle/>
          <a:p>
            <a:pPr algn="ctr"/>
            <a:r>
              <a:rPr b="1" i="0" sz="4600">
                <a:solidFill>
                  <a:srgbClr val="FFFFFF"/>
                </a:solidFill>
                <a:latin typeface="Calibri"/>
              </a:rPr>
              <a:t>267</a:t>
            </a:r>
          </a:p>
        </p:txBody>
      </p:sp>
      <p:sp>
        <p:nvSpPr>
          <p:cNvPr id="8" name="TextBox 7"/>
          <p:cNvSpPr txBox="1"/>
          <p:nvPr/>
        </p:nvSpPr>
        <p:spPr>
          <a:xfrm>
            <a:off x="475488" y="2029968"/>
            <a:ext cx="2560320" cy="411480"/>
          </a:xfrm>
          <a:prstGeom prst="rect">
            <a:avLst/>
          </a:prstGeom>
          <a:noFill/>
        </p:spPr>
        <p:txBody>
          <a:bodyPr wrap="square" lIns="0" tIns="0" rIns="45720">
            <a:spAutoFit/>
          </a:bodyPr>
          <a:lstStyle/>
          <a:p>
            <a:pPr algn="ctr"/>
            <a:r>
              <a:rPr b="0" i="0" sz="1100">
                <a:solidFill>
                  <a:srgbClr val="D5EAF8"/>
                </a:solidFill>
                <a:latin typeface="Calibri"/>
              </a:rPr>
              <a:t>Focal yeast species</a:t>
            </a:r>
          </a:p>
        </p:txBody>
      </p:sp>
      <p:sp>
        <p:nvSpPr>
          <p:cNvPr id="9" name="Rectangle 8"/>
          <p:cNvSpPr/>
          <p:nvPr/>
        </p:nvSpPr>
        <p:spPr>
          <a:xfrm>
            <a:off x="3291840" y="1234440"/>
            <a:ext cx="2743200" cy="1371600"/>
          </a:xfrm>
          <a:prstGeom prst="rect">
            <a:avLst/>
          </a:prstGeom>
          <a:solidFill>
            <a:srgbClr val="117A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01568" y="1298448"/>
            <a:ext cx="2560320" cy="777240"/>
          </a:xfrm>
          <a:prstGeom prst="rect">
            <a:avLst/>
          </a:prstGeom>
          <a:noFill/>
        </p:spPr>
        <p:txBody>
          <a:bodyPr wrap="square" lIns="0" tIns="0" rIns="45720">
            <a:spAutoFit/>
          </a:bodyPr>
          <a:lstStyle/>
          <a:p>
            <a:pPr algn="ctr"/>
            <a:r>
              <a:rPr b="1" i="0" sz="4600">
                <a:solidFill>
                  <a:srgbClr val="FFFFFF"/>
                </a:solidFill>
                <a:latin typeface="Calibri"/>
              </a:rPr>
              <a:t>9</a:t>
            </a:r>
          </a:p>
        </p:txBody>
      </p:sp>
      <p:sp>
        <p:nvSpPr>
          <p:cNvPr id="11" name="TextBox 10"/>
          <p:cNvSpPr txBox="1"/>
          <p:nvPr/>
        </p:nvSpPr>
        <p:spPr>
          <a:xfrm>
            <a:off x="3401568" y="2029968"/>
            <a:ext cx="2560320" cy="411480"/>
          </a:xfrm>
          <a:prstGeom prst="rect">
            <a:avLst/>
          </a:prstGeom>
          <a:noFill/>
        </p:spPr>
        <p:txBody>
          <a:bodyPr wrap="square" lIns="0" tIns="0" rIns="45720">
            <a:spAutoFit/>
          </a:bodyPr>
          <a:lstStyle/>
          <a:p>
            <a:pPr algn="ctr"/>
            <a:r>
              <a:rPr b="0" i="0" sz="1100">
                <a:solidFill>
                  <a:srgbClr val="D5EAF8"/>
                </a:solidFill>
                <a:latin typeface="Calibri"/>
              </a:rPr>
              <a:t>Orthogroups (OGs)</a:t>
            </a:r>
          </a:p>
        </p:txBody>
      </p:sp>
      <p:sp>
        <p:nvSpPr>
          <p:cNvPr id="12" name="Rectangle 11"/>
          <p:cNvSpPr/>
          <p:nvPr/>
        </p:nvSpPr>
        <p:spPr>
          <a:xfrm>
            <a:off x="6217920" y="1234440"/>
            <a:ext cx="2743200" cy="1371600"/>
          </a:xfrm>
          <a:prstGeom prst="rect">
            <a:avLst/>
          </a:prstGeom>
          <a:solidFill>
            <a:srgbClr val="7D3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7648" y="1298448"/>
            <a:ext cx="2560320" cy="777240"/>
          </a:xfrm>
          <a:prstGeom prst="rect">
            <a:avLst/>
          </a:prstGeom>
          <a:noFill/>
        </p:spPr>
        <p:txBody>
          <a:bodyPr wrap="square" lIns="0" tIns="0" rIns="45720">
            <a:spAutoFit/>
          </a:bodyPr>
          <a:lstStyle/>
          <a:p>
            <a:pPr algn="ctr"/>
            <a:r>
              <a:rPr b="1" i="0" sz="4600">
                <a:solidFill>
                  <a:srgbClr val="FFFFFF"/>
                </a:solidFill>
                <a:latin typeface="Calibri"/>
              </a:rPr>
              <a:t>1,232</a:t>
            </a:r>
          </a:p>
        </p:txBody>
      </p:sp>
      <p:sp>
        <p:nvSpPr>
          <p:cNvPr id="14" name="TextBox 13"/>
          <p:cNvSpPr txBox="1"/>
          <p:nvPr/>
        </p:nvSpPr>
        <p:spPr>
          <a:xfrm>
            <a:off x="6327648" y="2029968"/>
            <a:ext cx="2560320" cy="411480"/>
          </a:xfrm>
          <a:prstGeom prst="rect">
            <a:avLst/>
          </a:prstGeom>
          <a:noFill/>
        </p:spPr>
        <p:txBody>
          <a:bodyPr wrap="square" lIns="0" tIns="0" rIns="45720">
            <a:spAutoFit/>
          </a:bodyPr>
          <a:lstStyle/>
          <a:p>
            <a:pPr algn="ctr"/>
            <a:r>
              <a:rPr b="0" i="0" sz="1100">
                <a:solidFill>
                  <a:srgbClr val="D5EAF8"/>
                </a:solidFill>
                <a:latin typeface="Calibri"/>
              </a:rPr>
              <a:t>Models tested per OG</a:t>
            </a:r>
          </a:p>
        </p:txBody>
      </p:sp>
      <p:sp>
        <p:nvSpPr>
          <p:cNvPr id="15" name="Rectangle 14"/>
          <p:cNvSpPr/>
          <p:nvPr/>
        </p:nvSpPr>
        <p:spPr>
          <a:xfrm>
            <a:off x="9144000" y="1234440"/>
            <a:ext cx="2743200" cy="1371600"/>
          </a:xfrm>
          <a:prstGeom prst="rect">
            <a:avLst/>
          </a:prstGeom>
          <a:solidFill>
            <a:srgbClr val="B74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53728" y="1298448"/>
            <a:ext cx="2560320" cy="777240"/>
          </a:xfrm>
          <a:prstGeom prst="rect">
            <a:avLst/>
          </a:prstGeom>
          <a:noFill/>
        </p:spPr>
        <p:txBody>
          <a:bodyPr wrap="square" lIns="0" tIns="0" rIns="45720">
            <a:spAutoFit/>
          </a:bodyPr>
          <a:lstStyle/>
          <a:p>
            <a:pPr algn="ctr"/>
            <a:r>
              <a:rPr b="1" i="0" sz="4600">
                <a:solidFill>
                  <a:srgbClr val="FFFFFF"/>
                </a:solidFill>
                <a:latin typeface="Calibri"/>
              </a:rPr>
              <a:t>50M</a:t>
            </a:r>
          </a:p>
        </p:txBody>
      </p:sp>
      <p:sp>
        <p:nvSpPr>
          <p:cNvPr id="17" name="TextBox 16"/>
          <p:cNvSpPr txBox="1"/>
          <p:nvPr/>
        </p:nvSpPr>
        <p:spPr>
          <a:xfrm>
            <a:off x="9253728" y="2029968"/>
            <a:ext cx="2560320" cy="411480"/>
          </a:xfrm>
          <a:prstGeom prst="rect">
            <a:avLst/>
          </a:prstGeom>
          <a:noFill/>
        </p:spPr>
        <p:txBody>
          <a:bodyPr wrap="square" lIns="0" tIns="0" rIns="45720">
            <a:spAutoFit/>
          </a:bodyPr>
          <a:lstStyle/>
          <a:p>
            <a:pPr algn="ctr"/>
            <a:r>
              <a:rPr b="0" i="0" sz="1100">
                <a:solidFill>
                  <a:srgbClr val="D5EAF8"/>
                </a:solidFill>
                <a:latin typeface="Calibri"/>
              </a:rPr>
              <a:t>BEAST2 MCMC steps</a:t>
            </a:r>
          </a:p>
        </p:txBody>
      </p:sp>
      <p:sp>
        <p:nvSpPr>
          <p:cNvPr id="18" name="Rectangle 17"/>
          <p:cNvSpPr/>
          <p:nvPr/>
        </p:nvSpPr>
        <p:spPr>
          <a:xfrm>
            <a:off x="365760" y="2834640"/>
            <a:ext cx="5486400" cy="374903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907792"/>
            <a:ext cx="5029200" cy="365760"/>
          </a:xfrm>
          <a:prstGeom prst="rect">
            <a:avLst/>
          </a:prstGeom>
          <a:noFill/>
        </p:spPr>
        <p:txBody>
          <a:bodyPr wrap="square" lIns="45720" tIns="0" rIns="45720">
            <a:spAutoFit/>
          </a:bodyPr>
          <a:lstStyle/>
          <a:p>
            <a:pPr algn="l"/>
            <a:r>
              <a:rPr b="1" i="0" sz="1300">
                <a:solidFill>
                  <a:srgbClr val="144A7B"/>
                </a:solidFill>
                <a:latin typeface="Calibri"/>
              </a:rPr>
              <a:t>Dataset Files</a:t>
            </a:r>
          </a:p>
        </p:txBody>
      </p:sp>
      <p:sp>
        <p:nvSpPr>
          <p:cNvPr id="20" name="Rectangle 19"/>
          <p:cNvSpPr/>
          <p:nvPr/>
        </p:nvSpPr>
        <p:spPr>
          <a:xfrm>
            <a:off x="365760" y="3364992"/>
            <a:ext cx="5486400" cy="5029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 y="3429000"/>
            <a:ext cx="1920240" cy="365760"/>
          </a:xfrm>
          <a:prstGeom prst="rect">
            <a:avLst/>
          </a:prstGeom>
          <a:noFill/>
        </p:spPr>
        <p:txBody>
          <a:bodyPr wrap="square" lIns="45720" tIns="0" rIns="45720">
            <a:spAutoFit/>
          </a:bodyPr>
          <a:lstStyle/>
          <a:p>
            <a:pPr algn="l"/>
            <a:r>
              <a:rPr b="1" i="0" sz="1000">
                <a:solidFill>
                  <a:srgbClr val="144A7B"/>
                </a:solidFill>
                <a:latin typeface="Calibri"/>
              </a:rPr>
              <a:t>Orthogroup alignments</a:t>
            </a:r>
          </a:p>
        </p:txBody>
      </p:sp>
      <p:sp>
        <p:nvSpPr>
          <p:cNvPr id="22" name="TextBox 21"/>
          <p:cNvSpPr txBox="1"/>
          <p:nvPr/>
        </p:nvSpPr>
        <p:spPr>
          <a:xfrm>
            <a:off x="2423160" y="3429000"/>
            <a:ext cx="3337560" cy="365760"/>
          </a:xfrm>
          <a:prstGeom prst="rect">
            <a:avLst/>
          </a:prstGeom>
          <a:noFill/>
        </p:spPr>
        <p:txBody>
          <a:bodyPr wrap="square" lIns="45720" tIns="0" rIns="45720">
            <a:spAutoFit/>
          </a:bodyPr>
          <a:lstStyle/>
          <a:p>
            <a:pPr algn="l"/>
            <a:r>
              <a:rPr b="0" i="0" sz="1000">
                <a:solidFill>
                  <a:srgbClr val="1A1A2E"/>
                </a:solidFill>
                <a:latin typeface="Calibri"/>
              </a:rPr>
              <a:t>9 × OG*.trim.aln.fasta in data/</a:t>
            </a:r>
          </a:p>
        </p:txBody>
      </p:sp>
      <p:sp>
        <p:nvSpPr>
          <p:cNvPr id="23" name="Rectangle 22"/>
          <p:cNvSpPr/>
          <p:nvPr/>
        </p:nvSpPr>
        <p:spPr>
          <a:xfrm>
            <a:off x="365760" y="3886200"/>
            <a:ext cx="5486400" cy="50292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 y="3950208"/>
            <a:ext cx="1920240" cy="365760"/>
          </a:xfrm>
          <a:prstGeom prst="rect">
            <a:avLst/>
          </a:prstGeom>
          <a:noFill/>
        </p:spPr>
        <p:txBody>
          <a:bodyPr wrap="square" lIns="45720" tIns="0" rIns="45720">
            <a:spAutoFit/>
          </a:bodyPr>
          <a:lstStyle/>
          <a:p>
            <a:pPr algn="l"/>
            <a:r>
              <a:rPr b="1" i="0" sz="1000">
                <a:solidFill>
                  <a:srgbClr val="144A7B"/>
                </a:solidFill>
                <a:latin typeface="Calibri"/>
              </a:rPr>
              <a:t>Raw OG FASTAs</a:t>
            </a:r>
          </a:p>
        </p:txBody>
      </p:sp>
      <p:sp>
        <p:nvSpPr>
          <p:cNvPr id="25" name="TextBox 24"/>
          <p:cNvSpPr txBox="1"/>
          <p:nvPr/>
        </p:nvSpPr>
        <p:spPr>
          <a:xfrm>
            <a:off x="2423160" y="3950208"/>
            <a:ext cx="3337560" cy="365760"/>
          </a:xfrm>
          <a:prstGeom prst="rect">
            <a:avLst/>
          </a:prstGeom>
          <a:noFill/>
        </p:spPr>
        <p:txBody>
          <a:bodyPr wrap="square" lIns="45720" tIns="0" rIns="45720">
            <a:spAutoFit/>
          </a:bodyPr>
          <a:lstStyle/>
          <a:p>
            <a:pPr algn="l"/>
            <a:r>
              <a:rPr b="0" i="0" sz="1000">
                <a:solidFill>
                  <a:srgbClr val="1A1A2E"/>
                </a:solidFill>
                <a:latin typeface="Calibri"/>
              </a:rPr>
              <a:t>1,154-species OrthoFinder output (Y1000+)</a:t>
            </a:r>
          </a:p>
        </p:txBody>
      </p:sp>
      <p:sp>
        <p:nvSpPr>
          <p:cNvPr id="26" name="Rectangle 25"/>
          <p:cNvSpPr/>
          <p:nvPr/>
        </p:nvSpPr>
        <p:spPr>
          <a:xfrm>
            <a:off x="365760" y="4407408"/>
            <a:ext cx="5486400" cy="5029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 y="4471416"/>
            <a:ext cx="1920240" cy="365760"/>
          </a:xfrm>
          <a:prstGeom prst="rect">
            <a:avLst/>
          </a:prstGeom>
          <a:noFill/>
        </p:spPr>
        <p:txBody>
          <a:bodyPr wrap="square" lIns="45720" tIns="0" rIns="45720">
            <a:spAutoFit/>
          </a:bodyPr>
          <a:lstStyle/>
          <a:p>
            <a:pPr algn="l"/>
            <a:r>
              <a:rPr b="1" i="0" sz="1000">
                <a:solidFill>
                  <a:srgbClr val="144A7B"/>
                </a:solidFill>
                <a:latin typeface="Calibri"/>
              </a:rPr>
              <a:t>Trait data</a:t>
            </a:r>
          </a:p>
        </p:txBody>
      </p:sp>
      <p:sp>
        <p:nvSpPr>
          <p:cNvPr id="28" name="TextBox 27"/>
          <p:cNvSpPr txBox="1"/>
          <p:nvPr/>
        </p:nvSpPr>
        <p:spPr>
          <a:xfrm>
            <a:off x="2423160" y="4471416"/>
            <a:ext cx="3337560" cy="365760"/>
          </a:xfrm>
          <a:prstGeom prst="rect">
            <a:avLst/>
          </a:prstGeom>
          <a:noFill/>
        </p:spPr>
        <p:txBody>
          <a:bodyPr wrap="square" lIns="45720" tIns="0" rIns="45720">
            <a:spAutoFit/>
          </a:bodyPr>
          <a:lstStyle/>
          <a:p>
            <a:pPr algn="l"/>
            <a:r>
              <a:rPr b="0" i="0" sz="1000">
                <a:solidFill>
                  <a:srgbClr val="1A1A2E"/>
                </a:solidFill>
                <a:latin typeface="Calibri"/>
              </a:rPr>
              <a:t>mannose_traits.csv  (Species, OG_name, 1/0)</a:t>
            </a:r>
          </a:p>
        </p:txBody>
      </p:sp>
      <p:sp>
        <p:nvSpPr>
          <p:cNvPr id="29" name="Rectangle 28"/>
          <p:cNvSpPr/>
          <p:nvPr/>
        </p:nvSpPr>
        <p:spPr>
          <a:xfrm>
            <a:off x="365760" y="4928616"/>
            <a:ext cx="5486400" cy="50292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 y="4992624"/>
            <a:ext cx="1920240" cy="365760"/>
          </a:xfrm>
          <a:prstGeom prst="rect">
            <a:avLst/>
          </a:prstGeom>
          <a:noFill/>
        </p:spPr>
        <p:txBody>
          <a:bodyPr wrap="square" lIns="45720" tIns="0" rIns="45720">
            <a:spAutoFit/>
          </a:bodyPr>
          <a:lstStyle/>
          <a:p>
            <a:pPr algn="l"/>
            <a:r>
              <a:rPr b="1" i="0" sz="1000">
                <a:solidFill>
                  <a:srgbClr val="144A7B"/>
                </a:solidFill>
                <a:latin typeface="Calibri"/>
              </a:rPr>
              <a:t>Source archives</a:t>
            </a:r>
          </a:p>
        </p:txBody>
      </p:sp>
      <p:sp>
        <p:nvSpPr>
          <p:cNvPr id="31" name="TextBox 30"/>
          <p:cNvSpPr txBox="1"/>
          <p:nvPr/>
        </p:nvSpPr>
        <p:spPr>
          <a:xfrm>
            <a:off x="2423160" y="4992624"/>
            <a:ext cx="3337560" cy="365760"/>
          </a:xfrm>
          <a:prstGeom prst="rect">
            <a:avLst/>
          </a:prstGeom>
          <a:noFill/>
        </p:spPr>
        <p:txBody>
          <a:bodyPr wrap="square" lIns="45720" tIns="0" rIns="45720">
            <a:spAutoFit/>
          </a:bodyPr>
          <a:lstStyle/>
          <a:p>
            <a:pPr algn="l"/>
            <a:r>
              <a:rPr b="0" i="0" sz="1000">
                <a:solidFill>
                  <a:srgbClr val="1A1A2E"/>
                </a:solidFill>
                <a:latin typeface="Calibri"/>
              </a:rPr>
              <a:t>y1000p_orthofinder.tar.gz  +  y1000p_pep_files.tar.gz</a:t>
            </a:r>
          </a:p>
        </p:txBody>
      </p:sp>
      <p:sp>
        <p:nvSpPr>
          <p:cNvPr id="32" name="Rectangle 31"/>
          <p:cNvSpPr/>
          <p:nvPr/>
        </p:nvSpPr>
        <p:spPr>
          <a:xfrm>
            <a:off x="365760" y="5449824"/>
            <a:ext cx="5486400" cy="5029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8" y="5513832"/>
            <a:ext cx="1920240" cy="365760"/>
          </a:xfrm>
          <a:prstGeom prst="rect">
            <a:avLst/>
          </a:prstGeom>
          <a:noFill/>
        </p:spPr>
        <p:txBody>
          <a:bodyPr wrap="square" lIns="45720" tIns="0" rIns="45720">
            <a:spAutoFit/>
          </a:bodyPr>
          <a:lstStyle/>
          <a:p>
            <a:pPr algn="l"/>
            <a:r>
              <a:rPr b="1" i="0" sz="1000">
                <a:solidFill>
                  <a:srgbClr val="144A7B"/>
                </a:solidFill>
                <a:latin typeface="Calibri"/>
              </a:rPr>
              <a:t>Conda environment</a:t>
            </a:r>
          </a:p>
        </p:txBody>
      </p:sp>
      <p:sp>
        <p:nvSpPr>
          <p:cNvPr id="34" name="TextBox 33"/>
          <p:cNvSpPr txBox="1"/>
          <p:nvPr/>
        </p:nvSpPr>
        <p:spPr>
          <a:xfrm>
            <a:off x="2423160" y="5513832"/>
            <a:ext cx="3337560" cy="365760"/>
          </a:xfrm>
          <a:prstGeom prst="rect">
            <a:avLst/>
          </a:prstGeom>
          <a:noFill/>
        </p:spPr>
        <p:txBody>
          <a:bodyPr wrap="square" lIns="45720" tIns="0" rIns="45720">
            <a:spAutoFit/>
          </a:bodyPr>
          <a:lstStyle/>
          <a:p>
            <a:pPr algn="l"/>
            <a:r>
              <a:rPr b="0" i="0" sz="1000">
                <a:solidFill>
                  <a:srgbClr val="1A1A2E"/>
                </a:solidFill>
                <a:latin typeface="Calibri"/>
              </a:rPr>
              <a:t>phylo_env  (packed as phylo_env.tar.gz for Condor)</a:t>
            </a:r>
          </a:p>
        </p:txBody>
      </p:sp>
      <p:sp>
        <p:nvSpPr>
          <p:cNvPr id="35" name="Rectangle 34"/>
          <p:cNvSpPr/>
          <p:nvPr/>
        </p:nvSpPr>
        <p:spPr>
          <a:xfrm>
            <a:off x="365760" y="5971031"/>
            <a:ext cx="5486400" cy="50292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5488" y="6035040"/>
            <a:ext cx="1920240" cy="365760"/>
          </a:xfrm>
          <a:prstGeom prst="rect">
            <a:avLst/>
          </a:prstGeom>
          <a:noFill/>
        </p:spPr>
        <p:txBody>
          <a:bodyPr wrap="square" lIns="45720" tIns="0" rIns="45720">
            <a:spAutoFit/>
          </a:bodyPr>
          <a:lstStyle/>
          <a:p>
            <a:pPr algn="l"/>
            <a:r>
              <a:rPr b="1" i="0" sz="1000">
                <a:solidFill>
                  <a:srgbClr val="144A7B"/>
                </a:solidFill>
                <a:latin typeface="Calibri"/>
              </a:rPr>
              <a:t>Removed OG</a:t>
            </a:r>
          </a:p>
        </p:txBody>
      </p:sp>
      <p:sp>
        <p:nvSpPr>
          <p:cNvPr id="37" name="TextBox 36"/>
          <p:cNvSpPr txBox="1"/>
          <p:nvPr/>
        </p:nvSpPr>
        <p:spPr>
          <a:xfrm>
            <a:off x="2423160" y="6035040"/>
            <a:ext cx="3337560" cy="365760"/>
          </a:xfrm>
          <a:prstGeom prst="rect">
            <a:avLst/>
          </a:prstGeom>
          <a:noFill/>
        </p:spPr>
        <p:txBody>
          <a:bodyPr wrap="square" lIns="45720" tIns="0" rIns="45720">
            <a:spAutoFit/>
          </a:bodyPr>
          <a:lstStyle/>
          <a:p>
            <a:pPr algn="l"/>
            <a:r>
              <a:rPr b="0" i="0" sz="1000">
                <a:solidFill>
                  <a:srgbClr val="1A1A2E"/>
                </a:solidFill>
                <a:latin typeface="Calibri"/>
              </a:rPr>
              <a:t>OG0007179 — no outgroup, &lt;4 genes, unrootable</a:t>
            </a:r>
          </a:p>
        </p:txBody>
      </p:sp>
      <p:sp>
        <p:nvSpPr>
          <p:cNvPr id="38" name="Rectangle 37"/>
          <p:cNvSpPr/>
          <p:nvPr/>
        </p:nvSpPr>
        <p:spPr>
          <a:xfrm>
            <a:off x="6080760" y="2834640"/>
            <a:ext cx="5715000" cy="3749039"/>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0" y="2907792"/>
            <a:ext cx="5303520" cy="365760"/>
          </a:xfrm>
          <a:prstGeom prst="rect">
            <a:avLst/>
          </a:prstGeom>
          <a:noFill/>
        </p:spPr>
        <p:txBody>
          <a:bodyPr wrap="square" lIns="45720" tIns="0" rIns="45720">
            <a:spAutoFit/>
          </a:bodyPr>
          <a:lstStyle/>
          <a:p>
            <a:pPr algn="l"/>
            <a:r>
              <a:rPr b="1" i="0" sz="1300">
                <a:solidFill>
                  <a:srgbClr val="0B5E44"/>
                </a:solidFill>
                <a:latin typeface="Calibri"/>
              </a:rPr>
              <a:t>Key Tools</a:t>
            </a:r>
          </a:p>
        </p:txBody>
      </p:sp>
      <p:sp>
        <p:nvSpPr>
          <p:cNvPr id="40" name="Rectangle 39"/>
          <p:cNvSpPr/>
          <p:nvPr/>
        </p:nvSpPr>
        <p:spPr>
          <a:xfrm>
            <a:off x="6080760" y="3364992"/>
            <a:ext cx="5715000" cy="50292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90488" y="3429000"/>
            <a:ext cx="1920240" cy="365760"/>
          </a:xfrm>
          <a:prstGeom prst="rect">
            <a:avLst/>
          </a:prstGeom>
          <a:noFill/>
        </p:spPr>
        <p:txBody>
          <a:bodyPr wrap="square" lIns="45720" tIns="0" rIns="45720">
            <a:spAutoFit/>
          </a:bodyPr>
          <a:lstStyle/>
          <a:p>
            <a:pPr algn="l"/>
            <a:r>
              <a:rPr b="1" i="0" sz="1000">
                <a:solidFill>
                  <a:srgbClr val="0B5E44"/>
                </a:solidFill>
                <a:latin typeface="Calibri"/>
              </a:rPr>
              <a:t>IQ-TREE 3.0.1</a:t>
            </a:r>
          </a:p>
        </p:txBody>
      </p:sp>
      <p:sp>
        <p:nvSpPr>
          <p:cNvPr id="42" name="TextBox 41"/>
          <p:cNvSpPr txBox="1"/>
          <p:nvPr/>
        </p:nvSpPr>
        <p:spPr>
          <a:xfrm>
            <a:off x="8138160" y="3429000"/>
            <a:ext cx="3520440" cy="365760"/>
          </a:xfrm>
          <a:prstGeom prst="rect">
            <a:avLst/>
          </a:prstGeom>
          <a:noFill/>
        </p:spPr>
        <p:txBody>
          <a:bodyPr wrap="square" lIns="45720" tIns="0" rIns="45720">
            <a:spAutoFit/>
          </a:bodyPr>
          <a:lstStyle/>
          <a:p>
            <a:pPr algn="l"/>
            <a:r>
              <a:rPr b="0" i="0" sz="1000">
                <a:solidFill>
                  <a:srgbClr val="1A1A2E"/>
                </a:solidFill>
                <a:latin typeface="Calibri"/>
              </a:rPr>
              <a:t>ModelFinder model selection + ultrafast bootstrap</a:t>
            </a:r>
          </a:p>
        </p:txBody>
      </p:sp>
      <p:sp>
        <p:nvSpPr>
          <p:cNvPr id="43" name="Rectangle 42"/>
          <p:cNvSpPr/>
          <p:nvPr/>
        </p:nvSpPr>
        <p:spPr>
          <a:xfrm>
            <a:off x="6080760" y="3886200"/>
            <a:ext cx="5715000" cy="502920"/>
          </a:xfrm>
          <a:prstGeom prst="rect">
            <a:avLst/>
          </a:prstGeom>
          <a:solidFill>
            <a:srgbClr val="C8E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90488" y="3950208"/>
            <a:ext cx="1920240" cy="365760"/>
          </a:xfrm>
          <a:prstGeom prst="rect">
            <a:avLst/>
          </a:prstGeom>
          <a:noFill/>
        </p:spPr>
        <p:txBody>
          <a:bodyPr wrap="square" lIns="45720" tIns="0" rIns="45720">
            <a:spAutoFit/>
          </a:bodyPr>
          <a:lstStyle/>
          <a:p>
            <a:pPr algn="l"/>
            <a:r>
              <a:rPr b="1" i="0" sz="1000">
                <a:solidFill>
                  <a:srgbClr val="0B5E44"/>
                </a:solidFill>
                <a:latin typeface="Calibri"/>
              </a:rPr>
              <a:t>RAxML-NG 1.2.2</a:t>
            </a:r>
          </a:p>
        </p:txBody>
      </p:sp>
      <p:sp>
        <p:nvSpPr>
          <p:cNvPr id="45" name="TextBox 44"/>
          <p:cNvSpPr txBox="1"/>
          <p:nvPr/>
        </p:nvSpPr>
        <p:spPr>
          <a:xfrm>
            <a:off x="8138160" y="3950208"/>
            <a:ext cx="3520440" cy="365760"/>
          </a:xfrm>
          <a:prstGeom prst="rect">
            <a:avLst/>
          </a:prstGeom>
          <a:noFill/>
        </p:spPr>
        <p:txBody>
          <a:bodyPr wrap="square" lIns="45720" tIns="0" rIns="45720">
            <a:spAutoFit/>
          </a:bodyPr>
          <a:lstStyle/>
          <a:p>
            <a:pPr algn="l"/>
            <a:r>
              <a:rPr b="0" i="0" sz="1000">
                <a:solidFill>
                  <a:srgbClr val="1A1A2E"/>
                </a:solidFill>
                <a:latin typeface="Calibri"/>
              </a:rPr>
              <a:t>Maximum likelihood tree inference</a:t>
            </a:r>
          </a:p>
        </p:txBody>
      </p:sp>
      <p:sp>
        <p:nvSpPr>
          <p:cNvPr id="46" name="Rectangle 45"/>
          <p:cNvSpPr/>
          <p:nvPr/>
        </p:nvSpPr>
        <p:spPr>
          <a:xfrm>
            <a:off x="6080760" y="4407408"/>
            <a:ext cx="5715000" cy="50292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90488" y="4471416"/>
            <a:ext cx="1920240" cy="365760"/>
          </a:xfrm>
          <a:prstGeom prst="rect">
            <a:avLst/>
          </a:prstGeom>
          <a:noFill/>
        </p:spPr>
        <p:txBody>
          <a:bodyPr wrap="square" lIns="45720" tIns="0" rIns="45720">
            <a:spAutoFit/>
          </a:bodyPr>
          <a:lstStyle/>
          <a:p>
            <a:pPr algn="l"/>
            <a:r>
              <a:rPr b="1" i="0" sz="1000">
                <a:solidFill>
                  <a:srgbClr val="0B5E44"/>
                </a:solidFill>
                <a:latin typeface="Calibri"/>
              </a:rPr>
              <a:t>BEAST2 2.6.3</a:t>
            </a:r>
          </a:p>
        </p:txBody>
      </p:sp>
      <p:sp>
        <p:nvSpPr>
          <p:cNvPr id="48" name="TextBox 47"/>
          <p:cNvSpPr txBox="1"/>
          <p:nvPr/>
        </p:nvSpPr>
        <p:spPr>
          <a:xfrm>
            <a:off x="8138160" y="4471416"/>
            <a:ext cx="3520440" cy="365760"/>
          </a:xfrm>
          <a:prstGeom prst="rect">
            <a:avLst/>
          </a:prstGeom>
          <a:noFill/>
        </p:spPr>
        <p:txBody>
          <a:bodyPr wrap="square" lIns="45720" tIns="0" rIns="45720">
            <a:spAutoFit/>
          </a:bodyPr>
          <a:lstStyle/>
          <a:p>
            <a:pPr algn="l"/>
            <a:r>
              <a:rPr b="0" i="0" sz="1000">
                <a:solidFill>
                  <a:srgbClr val="1A1A2E"/>
                </a:solidFill>
                <a:latin typeface="Calibri"/>
              </a:rPr>
              <a:t>Bayesian time-calibrated phylogenomics</a:t>
            </a:r>
          </a:p>
        </p:txBody>
      </p:sp>
      <p:sp>
        <p:nvSpPr>
          <p:cNvPr id="49" name="Rectangle 48"/>
          <p:cNvSpPr/>
          <p:nvPr/>
        </p:nvSpPr>
        <p:spPr>
          <a:xfrm>
            <a:off x="6080760" y="4928616"/>
            <a:ext cx="5715000" cy="502920"/>
          </a:xfrm>
          <a:prstGeom prst="rect">
            <a:avLst/>
          </a:prstGeom>
          <a:solidFill>
            <a:srgbClr val="C8E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90488" y="4992624"/>
            <a:ext cx="1920240" cy="365760"/>
          </a:xfrm>
          <a:prstGeom prst="rect">
            <a:avLst/>
          </a:prstGeom>
          <a:noFill/>
        </p:spPr>
        <p:txBody>
          <a:bodyPr wrap="square" lIns="45720" tIns="0" rIns="45720">
            <a:spAutoFit/>
          </a:bodyPr>
          <a:lstStyle/>
          <a:p>
            <a:pPr algn="l"/>
            <a:r>
              <a:rPr b="1" i="0" sz="1000">
                <a:solidFill>
                  <a:srgbClr val="0B5E44"/>
                </a:solidFill>
                <a:latin typeface="Calibri"/>
              </a:rPr>
              <a:t>MAFFT 7.525</a:t>
            </a:r>
          </a:p>
        </p:txBody>
      </p:sp>
      <p:sp>
        <p:nvSpPr>
          <p:cNvPr id="51" name="TextBox 50"/>
          <p:cNvSpPr txBox="1"/>
          <p:nvPr/>
        </p:nvSpPr>
        <p:spPr>
          <a:xfrm>
            <a:off x="8138160" y="4992624"/>
            <a:ext cx="3520440" cy="365760"/>
          </a:xfrm>
          <a:prstGeom prst="rect">
            <a:avLst/>
          </a:prstGeom>
          <a:noFill/>
        </p:spPr>
        <p:txBody>
          <a:bodyPr wrap="square" lIns="45720" tIns="0" rIns="45720">
            <a:spAutoFit/>
          </a:bodyPr>
          <a:lstStyle/>
          <a:p>
            <a:pPr algn="l"/>
            <a:r>
              <a:rPr b="0" i="0" sz="1000">
                <a:solidFill>
                  <a:srgbClr val="1A1A2E"/>
                </a:solidFill>
                <a:latin typeface="Calibri"/>
              </a:rPr>
              <a:t>Multiple sequence alignment</a:t>
            </a:r>
          </a:p>
        </p:txBody>
      </p:sp>
      <p:sp>
        <p:nvSpPr>
          <p:cNvPr id="52" name="Rectangle 51"/>
          <p:cNvSpPr/>
          <p:nvPr/>
        </p:nvSpPr>
        <p:spPr>
          <a:xfrm>
            <a:off x="6080760" y="5449824"/>
            <a:ext cx="5715000" cy="50292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90488" y="5513832"/>
            <a:ext cx="1920240" cy="365760"/>
          </a:xfrm>
          <a:prstGeom prst="rect">
            <a:avLst/>
          </a:prstGeom>
          <a:noFill/>
        </p:spPr>
        <p:txBody>
          <a:bodyPr wrap="square" lIns="45720" tIns="0" rIns="45720">
            <a:spAutoFit/>
          </a:bodyPr>
          <a:lstStyle/>
          <a:p>
            <a:pPr algn="l"/>
            <a:r>
              <a:rPr b="1" i="0" sz="1000">
                <a:solidFill>
                  <a:srgbClr val="0B5E44"/>
                </a:solidFill>
                <a:latin typeface="Calibri"/>
              </a:rPr>
              <a:t>TrimAl 1.5.1</a:t>
            </a:r>
          </a:p>
        </p:txBody>
      </p:sp>
      <p:sp>
        <p:nvSpPr>
          <p:cNvPr id="54" name="TextBox 53"/>
          <p:cNvSpPr txBox="1"/>
          <p:nvPr/>
        </p:nvSpPr>
        <p:spPr>
          <a:xfrm>
            <a:off x="8138160" y="5513832"/>
            <a:ext cx="3520440" cy="365760"/>
          </a:xfrm>
          <a:prstGeom prst="rect">
            <a:avLst/>
          </a:prstGeom>
          <a:noFill/>
        </p:spPr>
        <p:txBody>
          <a:bodyPr wrap="square" lIns="45720" tIns="0" rIns="45720">
            <a:spAutoFit/>
          </a:bodyPr>
          <a:lstStyle/>
          <a:p>
            <a:pPr algn="l"/>
            <a:r>
              <a:rPr b="0" i="0" sz="1000">
                <a:solidFill>
                  <a:srgbClr val="1A1A2E"/>
                </a:solidFill>
                <a:latin typeface="Calibri"/>
              </a:rPr>
              <a:t>Alignment trimming (-automated1)</a:t>
            </a:r>
          </a:p>
        </p:txBody>
      </p:sp>
      <p:sp>
        <p:nvSpPr>
          <p:cNvPr id="55" name="Rectangle 54"/>
          <p:cNvSpPr/>
          <p:nvPr/>
        </p:nvSpPr>
        <p:spPr>
          <a:xfrm>
            <a:off x="6080760" y="5971031"/>
            <a:ext cx="5715000" cy="502920"/>
          </a:xfrm>
          <a:prstGeom prst="rect">
            <a:avLst/>
          </a:prstGeom>
          <a:solidFill>
            <a:srgbClr val="C8E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90488" y="6035040"/>
            <a:ext cx="1920240" cy="365760"/>
          </a:xfrm>
          <a:prstGeom prst="rect">
            <a:avLst/>
          </a:prstGeom>
          <a:noFill/>
        </p:spPr>
        <p:txBody>
          <a:bodyPr wrap="square" lIns="45720" tIns="0" rIns="45720">
            <a:spAutoFit/>
          </a:bodyPr>
          <a:lstStyle/>
          <a:p>
            <a:pPr algn="l"/>
            <a:r>
              <a:rPr b="1" i="0" sz="1000">
                <a:solidFill>
                  <a:srgbClr val="0B5E44"/>
                </a:solidFill>
                <a:latin typeface="Calibri"/>
              </a:rPr>
              <a:t>R 4.5.2 + caper</a:t>
            </a:r>
          </a:p>
        </p:txBody>
      </p:sp>
      <p:sp>
        <p:nvSpPr>
          <p:cNvPr id="57" name="TextBox 56"/>
          <p:cNvSpPr txBox="1"/>
          <p:nvPr/>
        </p:nvSpPr>
        <p:spPr>
          <a:xfrm>
            <a:off x="8138160" y="6035040"/>
            <a:ext cx="3520440" cy="365760"/>
          </a:xfrm>
          <a:prstGeom prst="rect">
            <a:avLst/>
          </a:prstGeom>
          <a:noFill/>
        </p:spPr>
        <p:txBody>
          <a:bodyPr wrap="square" lIns="45720" tIns="0" rIns="45720">
            <a:spAutoFit/>
          </a:bodyPr>
          <a:lstStyle/>
          <a:p>
            <a:pPr algn="l"/>
            <a:r>
              <a:rPr b="0" i="0" sz="1000">
                <a:solidFill>
                  <a:srgbClr val="1A1A2E"/>
                </a:solidFill>
                <a:latin typeface="Calibri"/>
              </a:rPr>
              <a:t>D-statistic (phylo.d), ASTRAL (aster)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4864"/>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515600" cy="731520"/>
          </a:xfrm>
          <a:prstGeom prst="rect">
            <a:avLst/>
          </a:prstGeom>
          <a:noFill/>
        </p:spPr>
        <p:txBody>
          <a:bodyPr wrap="square" lIns="45720" rIns="45720">
            <a:spAutoFit/>
          </a:bodyPr>
          <a:lstStyle/>
          <a:p>
            <a:pPr algn="l"/>
            <a:r>
              <a:rPr b="1" i="0" sz="2800">
                <a:solidFill>
                  <a:srgbClr val="FFFFFF"/>
                </a:solidFill>
                <a:latin typeface="Calibri"/>
              </a:rPr>
              <a:t>Preprocessing Pipeline (Local)</a:t>
            </a:r>
          </a:p>
        </p:txBody>
      </p:sp>
      <p:sp>
        <p:nvSpPr>
          <p:cNvPr id="5" name="TextBox 4"/>
          <p:cNvSpPr txBox="1"/>
          <p:nvPr/>
        </p:nvSpPr>
        <p:spPr>
          <a:xfrm>
            <a:off x="365760" y="713232"/>
            <a:ext cx="8229600" cy="320040"/>
          </a:xfrm>
          <a:prstGeom prst="rect">
            <a:avLst/>
          </a:prstGeom>
          <a:noFill/>
        </p:spPr>
        <p:txBody>
          <a:bodyPr wrap="square" lIns="45720" tIns="0" rIns="45720">
            <a:spAutoFit/>
          </a:bodyPr>
          <a:lstStyle/>
          <a:p>
            <a:pPr algn="l"/>
            <a:r>
              <a:rPr b="0" i="1" sz="1300">
                <a:solidFill>
                  <a:srgbClr val="D6EAF8"/>
                </a:solidFill>
                <a:latin typeface="Calibri"/>
              </a:rPr>
              <a:t>Steps A–D: Subset → Align → Trim → Local tree test</a:t>
            </a:r>
          </a:p>
        </p:txBody>
      </p:sp>
      <p:sp>
        <p:nvSpPr>
          <p:cNvPr id="6" name="Rectangle 5"/>
          <p:cNvSpPr/>
          <p:nvPr/>
        </p:nvSpPr>
        <p:spPr>
          <a:xfrm>
            <a:off x="320040" y="1234440"/>
            <a:ext cx="2816352" cy="658368"/>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79" y="1271016"/>
            <a:ext cx="502920" cy="603503"/>
          </a:xfrm>
          <a:prstGeom prst="rect">
            <a:avLst/>
          </a:prstGeom>
          <a:noFill/>
        </p:spPr>
        <p:txBody>
          <a:bodyPr wrap="square" lIns="0" tIns="0" rIns="45720">
            <a:spAutoFit/>
          </a:bodyPr>
          <a:lstStyle/>
          <a:p>
            <a:pPr algn="ctr"/>
            <a:r>
              <a:rPr b="1" i="0" sz="2800">
                <a:solidFill>
                  <a:srgbClr val="FFFFFF"/>
                </a:solidFill>
                <a:latin typeface="Calibri"/>
              </a:rPr>
              <a:t>A</a:t>
            </a:r>
          </a:p>
        </p:txBody>
      </p:sp>
      <p:sp>
        <p:nvSpPr>
          <p:cNvPr id="8" name="TextBox 7"/>
          <p:cNvSpPr txBox="1"/>
          <p:nvPr/>
        </p:nvSpPr>
        <p:spPr>
          <a:xfrm>
            <a:off x="914400" y="1325880"/>
            <a:ext cx="2103120" cy="475488"/>
          </a:xfrm>
          <a:prstGeom prst="rect">
            <a:avLst/>
          </a:prstGeom>
          <a:noFill/>
        </p:spPr>
        <p:txBody>
          <a:bodyPr wrap="square" lIns="45720" tIns="0" rIns="45720">
            <a:spAutoFit/>
          </a:bodyPr>
          <a:lstStyle/>
          <a:p>
            <a:pPr algn="l"/>
            <a:r>
              <a:rPr b="1" i="0" sz="1300">
                <a:solidFill>
                  <a:srgbClr val="FFFFFF"/>
                </a:solidFill>
                <a:latin typeface="Calibri"/>
              </a:rPr>
              <a:t>Subset to 267 Species</a:t>
            </a:r>
          </a:p>
        </p:txBody>
      </p:sp>
      <p:sp>
        <p:nvSpPr>
          <p:cNvPr id="9" name="Rectangle 8"/>
          <p:cNvSpPr/>
          <p:nvPr/>
        </p:nvSpPr>
        <p:spPr>
          <a:xfrm>
            <a:off x="320040" y="1892808"/>
            <a:ext cx="2816352" cy="27889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 y="2029968"/>
            <a:ext cx="2578608" cy="2286000"/>
          </a:xfrm>
          <a:prstGeom prst="rect">
            <a:avLst/>
          </a:prstGeom>
          <a:noFill/>
        </p:spPr>
        <p:txBody>
          <a:bodyPr wrap="square" lIns="73152" rIns="45720">
            <a:spAutoFit/>
          </a:bodyPr>
          <a:lstStyle/>
          <a:p>
            <a:pPr algn="l"/>
            <a:r>
              <a:rPr b="0" i="0" sz="1200">
                <a:solidFill>
                  <a:srgbClr val="1A1A2E"/>
                </a:solidFill>
                <a:latin typeface="Calibri"/>
              </a:rPr>
              <a:t>seqkit grep filters all OrthoFinder FASTAs from 1,154 → 267 focal species.
Headers follow pattern: &gt;geneID|species.final
Script: og_fastas_267.sh</a:t>
            </a:r>
          </a:p>
        </p:txBody>
      </p:sp>
      <p:sp>
        <p:nvSpPr>
          <p:cNvPr id="11" name="Rectangle 10"/>
          <p:cNvSpPr/>
          <p:nvPr/>
        </p:nvSpPr>
        <p:spPr>
          <a:xfrm>
            <a:off x="320040" y="4361688"/>
            <a:ext cx="2816352" cy="320040"/>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4407408"/>
            <a:ext cx="2615184" cy="256032"/>
          </a:xfrm>
          <a:prstGeom prst="rect">
            <a:avLst/>
          </a:prstGeom>
          <a:noFill/>
        </p:spPr>
        <p:txBody>
          <a:bodyPr wrap="square" lIns="45720" tIns="0" rIns="45720">
            <a:spAutoFit/>
          </a:bodyPr>
          <a:lstStyle/>
          <a:p>
            <a:pPr algn="l"/>
            <a:r>
              <a:rPr b="1" i="0" sz="950">
                <a:solidFill>
                  <a:srgbClr val="FFFFFF"/>
                </a:solidFill>
                <a:latin typeface="Courier New"/>
              </a:rPr>
              <a:t>og_fastas_267.sh</a:t>
            </a:r>
          </a:p>
        </p:txBody>
      </p:sp>
      <p:sp>
        <p:nvSpPr>
          <p:cNvPr id="13" name="Rectangle 12"/>
          <p:cNvSpPr/>
          <p:nvPr/>
        </p:nvSpPr>
        <p:spPr>
          <a:xfrm>
            <a:off x="3310128" y="1234440"/>
            <a:ext cx="2816352" cy="658368"/>
          </a:xfrm>
          <a:prstGeom prst="rect">
            <a:avLst/>
          </a:prstGeom>
          <a:solidFill>
            <a:srgbClr val="167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01568" y="1271016"/>
            <a:ext cx="502920" cy="603503"/>
          </a:xfrm>
          <a:prstGeom prst="rect">
            <a:avLst/>
          </a:prstGeom>
          <a:noFill/>
        </p:spPr>
        <p:txBody>
          <a:bodyPr wrap="square" lIns="0" tIns="0" rIns="45720">
            <a:spAutoFit/>
          </a:bodyPr>
          <a:lstStyle/>
          <a:p>
            <a:pPr algn="ctr"/>
            <a:r>
              <a:rPr b="1" i="0" sz="2800">
                <a:solidFill>
                  <a:srgbClr val="FFFFFF"/>
                </a:solidFill>
                <a:latin typeface="Calibri"/>
              </a:rPr>
              <a:t>B</a:t>
            </a:r>
          </a:p>
        </p:txBody>
      </p:sp>
      <p:sp>
        <p:nvSpPr>
          <p:cNvPr id="15" name="TextBox 14"/>
          <p:cNvSpPr txBox="1"/>
          <p:nvPr/>
        </p:nvSpPr>
        <p:spPr>
          <a:xfrm>
            <a:off x="3904488" y="1325880"/>
            <a:ext cx="2103120" cy="475488"/>
          </a:xfrm>
          <a:prstGeom prst="rect">
            <a:avLst/>
          </a:prstGeom>
          <a:noFill/>
        </p:spPr>
        <p:txBody>
          <a:bodyPr wrap="square" lIns="45720" tIns="0" rIns="45720">
            <a:spAutoFit/>
          </a:bodyPr>
          <a:lstStyle/>
          <a:p>
            <a:pPr algn="l"/>
            <a:r>
              <a:rPr b="1" i="0" sz="1300">
                <a:solidFill>
                  <a:srgbClr val="FFFFFF"/>
                </a:solidFill>
                <a:latin typeface="Calibri"/>
              </a:rPr>
              <a:t>Multiple Sequence Alignment</a:t>
            </a:r>
          </a:p>
        </p:txBody>
      </p:sp>
      <p:sp>
        <p:nvSpPr>
          <p:cNvPr id="16" name="Rectangle 15"/>
          <p:cNvSpPr/>
          <p:nvPr/>
        </p:nvSpPr>
        <p:spPr>
          <a:xfrm>
            <a:off x="3310128" y="1892808"/>
            <a:ext cx="2816352" cy="27889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38144" y="2029968"/>
            <a:ext cx="2578608" cy="2286000"/>
          </a:xfrm>
          <a:prstGeom prst="rect">
            <a:avLst/>
          </a:prstGeom>
          <a:noFill/>
        </p:spPr>
        <p:txBody>
          <a:bodyPr wrap="square" lIns="73152" rIns="45720">
            <a:spAutoFit/>
          </a:bodyPr>
          <a:lstStyle/>
          <a:p>
            <a:pPr algn="l"/>
            <a:r>
              <a:rPr b="0" i="0" sz="1200">
                <a:solidFill>
                  <a:srgbClr val="1A1A2E"/>
                </a:solidFill>
                <a:latin typeface="Calibri"/>
              </a:rPr>
              <a:t>MAFFT per orthogroup (OGs &lt; 3 sequences skipped):
≤ 200 seqs → L-INS-i  (--localpair --maxiterate 1000)
&gt; 200 seqs → FFT-NS-2 (--auto)
Script: mafft_run.sh</a:t>
            </a:r>
          </a:p>
        </p:txBody>
      </p:sp>
      <p:sp>
        <p:nvSpPr>
          <p:cNvPr id="18" name="Rectangle 17"/>
          <p:cNvSpPr/>
          <p:nvPr/>
        </p:nvSpPr>
        <p:spPr>
          <a:xfrm>
            <a:off x="3310128" y="4361688"/>
            <a:ext cx="2816352" cy="320040"/>
          </a:xfrm>
          <a:prstGeom prst="rect">
            <a:avLst/>
          </a:prstGeom>
          <a:solidFill>
            <a:srgbClr val="167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19856" y="4407408"/>
            <a:ext cx="2615184" cy="256032"/>
          </a:xfrm>
          <a:prstGeom prst="rect">
            <a:avLst/>
          </a:prstGeom>
          <a:noFill/>
        </p:spPr>
        <p:txBody>
          <a:bodyPr wrap="square" lIns="45720" tIns="0" rIns="45720">
            <a:spAutoFit/>
          </a:bodyPr>
          <a:lstStyle/>
          <a:p>
            <a:pPr algn="l"/>
            <a:r>
              <a:rPr b="1" i="0" sz="950">
                <a:solidFill>
                  <a:srgbClr val="FFFFFF"/>
                </a:solidFill>
                <a:latin typeface="Courier New"/>
              </a:rPr>
              <a:t>mafft_run.sh</a:t>
            </a:r>
          </a:p>
        </p:txBody>
      </p:sp>
      <p:sp>
        <p:nvSpPr>
          <p:cNvPr id="20" name="Rectangle 19"/>
          <p:cNvSpPr/>
          <p:nvPr/>
        </p:nvSpPr>
        <p:spPr>
          <a:xfrm>
            <a:off x="6300216" y="1234440"/>
            <a:ext cx="2816352" cy="658368"/>
          </a:xfrm>
          <a:prstGeom prst="rect">
            <a:avLst/>
          </a:prstGeom>
          <a:solidFill>
            <a:srgbClr val="117A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5" y="1271016"/>
            <a:ext cx="502920" cy="603503"/>
          </a:xfrm>
          <a:prstGeom prst="rect">
            <a:avLst/>
          </a:prstGeom>
          <a:noFill/>
        </p:spPr>
        <p:txBody>
          <a:bodyPr wrap="square" lIns="0" tIns="0" rIns="45720">
            <a:spAutoFit/>
          </a:bodyPr>
          <a:lstStyle/>
          <a:p>
            <a:pPr algn="ctr"/>
            <a:r>
              <a:rPr b="1" i="0" sz="2800">
                <a:solidFill>
                  <a:srgbClr val="FFFFFF"/>
                </a:solidFill>
                <a:latin typeface="Calibri"/>
              </a:rPr>
              <a:t>C</a:t>
            </a:r>
          </a:p>
        </p:txBody>
      </p:sp>
      <p:sp>
        <p:nvSpPr>
          <p:cNvPr id="22" name="TextBox 21"/>
          <p:cNvSpPr txBox="1"/>
          <p:nvPr/>
        </p:nvSpPr>
        <p:spPr>
          <a:xfrm>
            <a:off x="6894576" y="1325880"/>
            <a:ext cx="2103120" cy="475488"/>
          </a:xfrm>
          <a:prstGeom prst="rect">
            <a:avLst/>
          </a:prstGeom>
          <a:noFill/>
        </p:spPr>
        <p:txBody>
          <a:bodyPr wrap="square" lIns="45720" tIns="0" rIns="45720">
            <a:spAutoFit/>
          </a:bodyPr>
          <a:lstStyle/>
          <a:p>
            <a:pPr algn="l"/>
            <a:r>
              <a:rPr b="1" i="0" sz="1300">
                <a:solidFill>
                  <a:srgbClr val="FFFFFF"/>
                </a:solidFill>
                <a:latin typeface="Calibri"/>
              </a:rPr>
              <a:t>Alignment Trimming</a:t>
            </a:r>
          </a:p>
        </p:txBody>
      </p:sp>
      <p:sp>
        <p:nvSpPr>
          <p:cNvPr id="23" name="Rectangle 22"/>
          <p:cNvSpPr/>
          <p:nvPr/>
        </p:nvSpPr>
        <p:spPr>
          <a:xfrm>
            <a:off x="6300216" y="1892808"/>
            <a:ext cx="2816352" cy="27889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8231" y="2029968"/>
            <a:ext cx="2578608" cy="2286000"/>
          </a:xfrm>
          <a:prstGeom prst="rect">
            <a:avLst/>
          </a:prstGeom>
          <a:noFill/>
        </p:spPr>
        <p:txBody>
          <a:bodyPr wrap="square" lIns="73152" rIns="45720">
            <a:spAutoFit/>
          </a:bodyPr>
          <a:lstStyle/>
          <a:p>
            <a:pPr algn="l"/>
            <a:r>
              <a:rPr b="0" i="0" sz="1200">
                <a:solidFill>
                  <a:srgbClr val="1A1A2E"/>
                </a:solidFill>
                <a:latin typeface="Calibri"/>
              </a:rPr>
              <a:t>trimal -automated1 removes gap-rich, noisy columns.
Auto-adapts thresholds per OG size — no manual tuning.
Script: trim_align.sh</a:t>
            </a:r>
          </a:p>
        </p:txBody>
      </p:sp>
      <p:sp>
        <p:nvSpPr>
          <p:cNvPr id="25" name="Rectangle 24"/>
          <p:cNvSpPr/>
          <p:nvPr/>
        </p:nvSpPr>
        <p:spPr>
          <a:xfrm>
            <a:off x="6300216" y="4361688"/>
            <a:ext cx="2816352" cy="320040"/>
          </a:xfrm>
          <a:prstGeom prst="rect">
            <a:avLst/>
          </a:prstGeom>
          <a:solidFill>
            <a:srgbClr val="117A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9944" y="4407408"/>
            <a:ext cx="2615184" cy="256032"/>
          </a:xfrm>
          <a:prstGeom prst="rect">
            <a:avLst/>
          </a:prstGeom>
          <a:noFill/>
        </p:spPr>
        <p:txBody>
          <a:bodyPr wrap="square" lIns="45720" tIns="0" rIns="45720">
            <a:spAutoFit/>
          </a:bodyPr>
          <a:lstStyle/>
          <a:p>
            <a:pPr algn="l"/>
            <a:r>
              <a:rPr b="1" i="0" sz="950">
                <a:solidFill>
                  <a:srgbClr val="FFFFFF"/>
                </a:solidFill>
                <a:latin typeface="Courier New"/>
              </a:rPr>
              <a:t>trim_align.sh</a:t>
            </a:r>
          </a:p>
        </p:txBody>
      </p:sp>
      <p:sp>
        <p:nvSpPr>
          <p:cNvPr id="27" name="Rectangle 26"/>
          <p:cNvSpPr/>
          <p:nvPr/>
        </p:nvSpPr>
        <p:spPr>
          <a:xfrm>
            <a:off x="9290304" y="1234440"/>
            <a:ext cx="2816352" cy="658368"/>
          </a:xfrm>
          <a:prstGeom prst="rect">
            <a:avLst/>
          </a:prstGeom>
          <a:solidFill>
            <a:srgbClr val="7D3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81744" y="1271016"/>
            <a:ext cx="502920" cy="603503"/>
          </a:xfrm>
          <a:prstGeom prst="rect">
            <a:avLst/>
          </a:prstGeom>
          <a:noFill/>
        </p:spPr>
        <p:txBody>
          <a:bodyPr wrap="square" lIns="0" tIns="0" rIns="45720">
            <a:spAutoFit/>
          </a:bodyPr>
          <a:lstStyle/>
          <a:p>
            <a:pPr algn="ctr"/>
            <a:r>
              <a:rPr b="1" i="0" sz="2800">
                <a:solidFill>
                  <a:srgbClr val="FFFFFF"/>
                </a:solidFill>
                <a:latin typeface="Calibri"/>
              </a:rPr>
              <a:t>D</a:t>
            </a:r>
          </a:p>
        </p:txBody>
      </p:sp>
      <p:sp>
        <p:nvSpPr>
          <p:cNvPr id="29" name="TextBox 28"/>
          <p:cNvSpPr txBox="1"/>
          <p:nvPr/>
        </p:nvSpPr>
        <p:spPr>
          <a:xfrm>
            <a:off x="9884664" y="1325880"/>
            <a:ext cx="2103120" cy="475488"/>
          </a:xfrm>
          <a:prstGeom prst="rect">
            <a:avLst/>
          </a:prstGeom>
          <a:noFill/>
        </p:spPr>
        <p:txBody>
          <a:bodyPr wrap="square" lIns="45720" tIns="0" rIns="45720">
            <a:spAutoFit/>
          </a:bodyPr>
          <a:lstStyle/>
          <a:p>
            <a:pPr algn="l"/>
            <a:r>
              <a:rPr b="1" i="0" sz="1300">
                <a:solidFill>
                  <a:srgbClr val="FFFFFF"/>
                </a:solidFill>
                <a:latin typeface="Calibri"/>
              </a:rPr>
              <a:t>Local Gene Tree Test</a:t>
            </a:r>
          </a:p>
        </p:txBody>
      </p:sp>
      <p:sp>
        <p:nvSpPr>
          <p:cNvPr id="30" name="Rectangle 29"/>
          <p:cNvSpPr/>
          <p:nvPr/>
        </p:nvSpPr>
        <p:spPr>
          <a:xfrm>
            <a:off x="9290304" y="1892808"/>
            <a:ext cx="2816352" cy="27889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18320" y="2029968"/>
            <a:ext cx="2578608" cy="2286000"/>
          </a:xfrm>
          <a:prstGeom prst="rect">
            <a:avLst/>
          </a:prstGeom>
          <a:noFill/>
        </p:spPr>
        <p:txBody>
          <a:bodyPr wrap="square" lIns="73152" rIns="45720">
            <a:spAutoFit/>
          </a:bodyPr>
          <a:lstStyle/>
          <a:p>
            <a:pPr algn="l"/>
            <a:r>
              <a:rPr b="0" i="0" sz="1200">
                <a:solidFill>
                  <a:srgbClr val="1A1A2E"/>
                </a:solidFill>
                <a:latin typeface="Calibri"/>
              </a:rPr>
              <a:t>IQ-TREE validates the preprocessing output.
Flags: -m MFP -B 1000 -T AUTO
Full model selection runs on cluster (Phase 1).</a:t>
            </a:r>
          </a:p>
        </p:txBody>
      </p:sp>
      <p:sp>
        <p:nvSpPr>
          <p:cNvPr id="32" name="Rectangle 31"/>
          <p:cNvSpPr/>
          <p:nvPr/>
        </p:nvSpPr>
        <p:spPr>
          <a:xfrm>
            <a:off x="9290304" y="4361688"/>
            <a:ext cx="2816352" cy="320040"/>
          </a:xfrm>
          <a:prstGeom prst="rect">
            <a:avLst/>
          </a:prstGeom>
          <a:solidFill>
            <a:srgbClr val="7D3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00032" y="4407408"/>
            <a:ext cx="2615184" cy="256032"/>
          </a:xfrm>
          <a:prstGeom prst="rect">
            <a:avLst/>
          </a:prstGeom>
          <a:noFill/>
        </p:spPr>
        <p:txBody>
          <a:bodyPr wrap="square" lIns="45720" tIns="0" rIns="45720">
            <a:spAutoFit/>
          </a:bodyPr>
          <a:lstStyle/>
          <a:p>
            <a:pPr algn="l"/>
            <a:r>
              <a:rPr b="1" i="0" sz="950">
                <a:solidFill>
                  <a:srgbClr val="FFFFFF"/>
                </a:solidFill>
                <a:latin typeface="Courier New"/>
              </a:rPr>
              <a:t>iqtree_run.sh</a:t>
            </a:r>
          </a:p>
        </p:txBody>
      </p:sp>
      <p:sp>
        <p:nvSpPr>
          <p:cNvPr id="34" name="TextBox 33"/>
          <p:cNvSpPr txBox="1"/>
          <p:nvPr/>
        </p:nvSpPr>
        <p:spPr>
          <a:xfrm>
            <a:off x="3063240" y="3012948"/>
            <a:ext cx="365760" cy="457200"/>
          </a:xfrm>
          <a:prstGeom prst="rect">
            <a:avLst/>
          </a:prstGeom>
          <a:noFill/>
        </p:spPr>
        <p:txBody>
          <a:bodyPr wrap="square" rIns="45720">
            <a:spAutoFit/>
          </a:bodyPr>
          <a:lstStyle/>
          <a:p>
            <a:pPr algn="ctr"/>
            <a:r>
              <a:rPr b="1" i="0" sz="2200">
                <a:solidFill>
                  <a:srgbClr val="1ABC9C"/>
                </a:solidFill>
                <a:latin typeface="Calibri"/>
              </a:rPr>
              <a:t>→</a:t>
            </a:r>
          </a:p>
        </p:txBody>
      </p:sp>
      <p:sp>
        <p:nvSpPr>
          <p:cNvPr id="35" name="TextBox 34"/>
          <p:cNvSpPr txBox="1"/>
          <p:nvPr/>
        </p:nvSpPr>
        <p:spPr>
          <a:xfrm>
            <a:off x="6053328" y="3012948"/>
            <a:ext cx="365760" cy="457200"/>
          </a:xfrm>
          <a:prstGeom prst="rect">
            <a:avLst/>
          </a:prstGeom>
          <a:noFill/>
        </p:spPr>
        <p:txBody>
          <a:bodyPr wrap="square" rIns="45720">
            <a:spAutoFit/>
          </a:bodyPr>
          <a:lstStyle/>
          <a:p>
            <a:pPr algn="ctr"/>
            <a:r>
              <a:rPr b="1" i="0" sz="2200">
                <a:solidFill>
                  <a:srgbClr val="1ABC9C"/>
                </a:solidFill>
                <a:latin typeface="Calibri"/>
              </a:rPr>
              <a:t>→</a:t>
            </a:r>
          </a:p>
        </p:txBody>
      </p:sp>
      <p:sp>
        <p:nvSpPr>
          <p:cNvPr id="36" name="TextBox 35"/>
          <p:cNvSpPr txBox="1"/>
          <p:nvPr/>
        </p:nvSpPr>
        <p:spPr>
          <a:xfrm>
            <a:off x="9043415" y="3012948"/>
            <a:ext cx="365760" cy="457200"/>
          </a:xfrm>
          <a:prstGeom prst="rect">
            <a:avLst/>
          </a:prstGeom>
          <a:noFill/>
        </p:spPr>
        <p:txBody>
          <a:bodyPr wrap="square" rIns="45720">
            <a:spAutoFit/>
          </a:bodyPr>
          <a:lstStyle/>
          <a:p>
            <a:pPr algn="ctr"/>
            <a:r>
              <a:rPr b="1" i="0" sz="2200">
                <a:solidFill>
                  <a:srgbClr val="1ABC9C"/>
                </a:solidFill>
                <a:latin typeface="Calibri"/>
              </a:rPr>
              <a:t>→</a:t>
            </a:r>
          </a:p>
        </p:txBody>
      </p:sp>
      <p:sp>
        <p:nvSpPr>
          <p:cNvPr id="37" name="Rectangle 36"/>
          <p:cNvSpPr/>
          <p:nvPr/>
        </p:nvSpPr>
        <p:spPr>
          <a:xfrm>
            <a:off x="320040" y="4846320"/>
            <a:ext cx="11548872" cy="658368"/>
          </a:xfrm>
          <a:prstGeom prst="rect">
            <a:avLst/>
          </a:prstGeom>
          <a:solidFill>
            <a:srgbClr val="0D3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4937760"/>
            <a:ext cx="11247120" cy="457200"/>
          </a:xfrm>
          <a:prstGeom prst="rect">
            <a:avLst/>
          </a:prstGeom>
          <a:noFill/>
        </p:spPr>
        <p:txBody>
          <a:bodyPr wrap="square" lIns="45720" tIns="0" rIns="45720">
            <a:spAutoFit/>
          </a:bodyPr>
          <a:lstStyle/>
          <a:p>
            <a:pPr algn="ctr"/>
            <a:r>
              <a:rPr b="1" i="0" sz="1200">
                <a:solidFill>
                  <a:srgbClr val="FFFFFF"/>
                </a:solidFill>
                <a:latin typeface="Calibri"/>
              </a:rPr>
              <a:t>Output → data/OG*.trim.aln.fasta  ·  Used as input for all cluster analysis phases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4864"/>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515600" cy="731520"/>
          </a:xfrm>
          <a:prstGeom prst="rect">
            <a:avLst/>
          </a:prstGeom>
          <a:noFill/>
        </p:spPr>
        <p:txBody>
          <a:bodyPr wrap="square" lIns="45720" rIns="45720">
            <a:spAutoFit/>
          </a:bodyPr>
          <a:lstStyle/>
          <a:p>
            <a:pPr algn="l"/>
            <a:r>
              <a:rPr b="1" i="0" sz="2800">
                <a:solidFill>
                  <a:srgbClr val="FFFFFF"/>
                </a:solidFill>
                <a:latin typeface="Calibri"/>
              </a:rPr>
              <a:t>Phase 1 — Model Selection</a:t>
            </a:r>
          </a:p>
        </p:txBody>
      </p:sp>
      <p:sp>
        <p:nvSpPr>
          <p:cNvPr id="5" name="TextBox 4"/>
          <p:cNvSpPr txBox="1"/>
          <p:nvPr/>
        </p:nvSpPr>
        <p:spPr>
          <a:xfrm>
            <a:off x="365760" y="713232"/>
            <a:ext cx="8229600" cy="320040"/>
          </a:xfrm>
          <a:prstGeom prst="rect">
            <a:avLst/>
          </a:prstGeom>
          <a:noFill/>
        </p:spPr>
        <p:txBody>
          <a:bodyPr wrap="square" lIns="45720" tIns="0" rIns="45720">
            <a:spAutoFit/>
          </a:bodyPr>
          <a:lstStyle/>
          <a:p>
            <a:pPr algn="l"/>
            <a:r>
              <a:rPr b="0" i="1" sz="1300">
                <a:solidFill>
                  <a:srgbClr val="D6EAF8"/>
                </a:solidFill>
                <a:latin typeface="Calibri"/>
              </a:rPr>
              <a:t>IQ-TREE ModelFinder · BIC criterion · 9 parallel Condor jobs</a:t>
            </a:r>
          </a:p>
        </p:txBody>
      </p:sp>
      <p:sp>
        <p:nvSpPr>
          <p:cNvPr id="6" name="Rectangle 5"/>
          <p:cNvSpPr/>
          <p:nvPr/>
        </p:nvSpPr>
        <p:spPr>
          <a:xfrm>
            <a:off x="365760" y="1234440"/>
            <a:ext cx="4754880" cy="534924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1417320" cy="1188720"/>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44752"/>
            <a:ext cx="1417320" cy="685800"/>
          </a:xfrm>
          <a:prstGeom prst="rect">
            <a:avLst/>
          </a:prstGeom>
          <a:noFill/>
        </p:spPr>
        <p:txBody>
          <a:bodyPr wrap="square" lIns="0" tIns="0" rIns="45720">
            <a:spAutoFit/>
          </a:bodyPr>
          <a:lstStyle/>
          <a:p>
            <a:pPr algn="ctr"/>
            <a:r>
              <a:rPr b="1" i="0" sz="2800">
                <a:solidFill>
                  <a:srgbClr val="FFFFFF"/>
                </a:solidFill>
                <a:latin typeface="Calibri"/>
              </a:rPr>
              <a:t>9</a:t>
            </a:r>
          </a:p>
        </p:txBody>
      </p:sp>
      <p:sp>
        <p:nvSpPr>
          <p:cNvPr id="9" name="TextBox 8"/>
          <p:cNvSpPr txBox="1"/>
          <p:nvPr/>
        </p:nvSpPr>
        <p:spPr>
          <a:xfrm>
            <a:off x="502920" y="2103120"/>
            <a:ext cx="1417320" cy="365760"/>
          </a:xfrm>
          <a:prstGeom prst="rect">
            <a:avLst/>
          </a:prstGeom>
          <a:noFill/>
        </p:spPr>
        <p:txBody>
          <a:bodyPr wrap="square" lIns="0" tIns="0" rIns="45720">
            <a:spAutoFit/>
          </a:bodyPr>
          <a:lstStyle/>
          <a:p>
            <a:pPr algn="ctr"/>
            <a:r>
              <a:rPr b="0" i="0" sz="950">
                <a:solidFill>
                  <a:srgbClr val="D5EAF8"/>
                </a:solidFill>
                <a:latin typeface="Calibri"/>
              </a:rPr>
              <a:t>Jobs in parallel</a:t>
            </a:r>
          </a:p>
        </p:txBody>
      </p:sp>
      <p:sp>
        <p:nvSpPr>
          <p:cNvPr id="10" name="Rectangle 9"/>
          <p:cNvSpPr/>
          <p:nvPr/>
        </p:nvSpPr>
        <p:spPr>
          <a:xfrm>
            <a:off x="2039112" y="1371600"/>
            <a:ext cx="1417320" cy="1188720"/>
          </a:xfrm>
          <a:prstGeom prst="rect">
            <a:avLst/>
          </a:prstGeom>
          <a:solidFill>
            <a:srgbClr val="117A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39112" y="1444752"/>
            <a:ext cx="1417320" cy="685800"/>
          </a:xfrm>
          <a:prstGeom prst="rect">
            <a:avLst/>
          </a:prstGeom>
          <a:noFill/>
        </p:spPr>
        <p:txBody>
          <a:bodyPr wrap="square" lIns="0" tIns="0" rIns="45720">
            <a:spAutoFit/>
          </a:bodyPr>
          <a:lstStyle/>
          <a:p>
            <a:pPr algn="ctr"/>
            <a:r>
              <a:rPr b="1" i="0" sz="2800">
                <a:solidFill>
                  <a:srgbClr val="FFFFFF"/>
                </a:solidFill>
                <a:latin typeface="Calibri"/>
              </a:rPr>
              <a:t>~1.5h</a:t>
            </a:r>
          </a:p>
        </p:txBody>
      </p:sp>
      <p:sp>
        <p:nvSpPr>
          <p:cNvPr id="12" name="TextBox 11"/>
          <p:cNvSpPr txBox="1"/>
          <p:nvPr/>
        </p:nvSpPr>
        <p:spPr>
          <a:xfrm>
            <a:off x="2039112" y="2103120"/>
            <a:ext cx="1417320" cy="365760"/>
          </a:xfrm>
          <a:prstGeom prst="rect">
            <a:avLst/>
          </a:prstGeom>
          <a:noFill/>
        </p:spPr>
        <p:txBody>
          <a:bodyPr wrap="square" lIns="0" tIns="0" rIns="45720">
            <a:spAutoFit/>
          </a:bodyPr>
          <a:lstStyle/>
          <a:p>
            <a:pPr algn="ctr"/>
            <a:r>
              <a:rPr b="0" i="0" sz="950">
                <a:solidFill>
                  <a:srgbClr val="D5EAF8"/>
                </a:solidFill>
                <a:latin typeface="Calibri"/>
              </a:rPr>
              <a:t>Total runtime</a:t>
            </a:r>
          </a:p>
        </p:txBody>
      </p:sp>
      <p:sp>
        <p:nvSpPr>
          <p:cNvPr id="13" name="Rectangle 12"/>
          <p:cNvSpPr/>
          <p:nvPr/>
        </p:nvSpPr>
        <p:spPr>
          <a:xfrm>
            <a:off x="3575304" y="1371600"/>
            <a:ext cx="1417320" cy="1188720"/>
          </a:xfrm>
          <a:prstGeom prst="rect">
            <a:avLst/>
          </a:prstGeom>
          <a:solidFill>
            <a:srgbClr val="7D3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5304" y="1444752"/>
            <a:ext cx="1417320" cy="685800"/>
          </a:xfrm>
          <a:prstGeom prst="rect">
            <a:avLst/>
          </a:prstGeom>
          <a:noFill/>
        </p:spPr>
        <p:txBody>
          <a:bodyPr wrap="square" lIns="0" tIns="0" rIns="45720">
            <a:spAutoFit/>
          </a:bodyPr>
          <a:lstStyle/>
          <a:p>
            <a:pPr algn="ctr"/>
            <a:r>
              <a:rPr b="1" i="0" sz="2800">
                <a:solidFill>
                  <a:srgbClr val="FFFFFF"/>
                </a:solidFill>
                <a:latin typeface="Calibri"/>
              </a:rPr>
              <a:t>1,232</a:t>
            </a:r>
          </a:p>
        </p:txBody>
      </p:sp>
      <p:sp>
        <p:nvSpPr>
          <p:cNvPr id="15" name="TextBox 14"/>
          <p:cNvSpPr txBox="1"/>
          <p:nvPr/>
        </p:nvSpPr>
        <p:spPr>
          <a:xfrm>
            <a:off x="3575304" y="2103120"/>
            <a:ext cx="1417320" cy="365760"/>
          </a:xfrm>
          <a:prstGeom prst="rect">
            <a:avLst/>
          </a:prstGeom>
          <a:noFill/>
        </p:spPr>
        <p:txBody>
          <a:bodyPr wrap="square" lIns="0" tIns="0" rIns="45720">
            <a:spAutoFit/>
          </a:bodyPr>
          <a:lstStyle/>
          <a:p>
            <a:pPr algn="ctr"/>
            <a:r>
              <a:rPr b="0" i="0" sz="950">
                <a:solidFill>
                  <a:srgbClr val="D5EAF8"/>
                </a:solidFill>
                <a:latin typeface="Calibri"/>
              </a:rPr>
              <a:t>Models tested/OG</a:t>
            </a:r>
          </a:p>
        </p:txBody>
      </p:sp>
      <p:sp>
        <p:nvSpPr>
          <p:cNvPr id="16" name="TextBox 15"/>
          <p:cNvSpPr txBox="1"/>
          <p:nvPr/>
        </p:nvSpPr>
        <p:spPr>
          <a:xfrm>
            <a:off x="457200" y="2743200"/>
            <a:ext cx="4572000" cy="3657600"/>
          </a:xfrm>
          <a:prstGeom prst="rect">
            <a:avLst/>
          </a:prstGeom>
          <a:noFill/>
        </p:spPr>
        <p:txBody>
          <a:bodyPr wrap="square" lIns="137160" tIns="91440" rIns="45720">
            <a:spAutoFit/>
          </a:bodyPr>
          <a:lstStyle/>
          <a:p>
            <a:pPr algn="l">
              <a:spcAft>
                <a:spcPts val="300"/>
              </a:spcAft>
            </a:pPr>
            <a:r>
              <a:rPr sz="1300" b="1" i="0">
                <a:solidFill>
                  <a:srgbClr val="144A7B"/>
                </a:solidFill>
                <a:latin typeface="Calibri"/>
              </a:rPr>
              <a:t>How it works</a:t>
            </a:r>
          </a:p>
          <a:p>
            <a:pPr algn="l">
              <a:spcAft>
                <a:spcPts val="300"/>
              </a:spcAft>
            </a:pPr>
            <a:r>
              <a:rPr sz="1200" b="0" i="0">
                <a:latin typeface="Calibri"/>
              </a:rPr>
              <a:t/>
            </a:r>
          </a:p>
          <a:p>
            <a:pPr algn="l">
              <a:spcAft>
                <a:spcPts val="300"/>
              </a:spcAft>
            </a:pPr>
            <a:r>
              <a:rPr sz="1100" b="1" i="0">
                <a:solidFill>
                  <a:srgbClr val="1A1A2E"/>
                </a:solidFill>
                <a:latin typeface="Calibri"/>
              </a:rPr>
              <a:t>1. Generate job list:</a:t>
            </a:r>
          </a:p>
          <a:p>
            <a:pPr algn="l">
              <a:spcAft>
                <a:spcPts val="300"/>
              </a:spcAft>
            </a:pPr>
            <a:r>
              <a:rPr sz="1000" b="0" i="0">
                <a:solidFill>
                  <a:srgbClr val="5D6D7E"/>
                </a:solidFill>
                <a:latin typeface="Calibri"/>
              </a:rPr>
              <a:t>   ls data/OG*.trim.aln.fasta | xargs basename</a:t>
            </a:r>
          </a:p>
          <a:p>
            <a:pPr algn="l">
              <a:spcAft>
                <a:spcPts val="300"/>
              </a:spcAft>
            </a:pPr>
            <a:r>
              <a:rPr sz="1200" b="0" i="0">
                <a:latin typeface="Calibri"/>
              </a:rPr>
              <a:t/>
            </a:r>
          </a:p>
          <a:p>
            <a:pPr algn="l">
              <a:spcAft>
                <a:spcPts val="300"/>
              </a:spcAft>
            </a:pPr>
            <a:r>
              <a:rPr sz="1100" b="1" i="0">
                <a:solidFill>
                  <a:srgbClr val="1A1A2E"/>
                </a:solidFill>
                <a:latin typeface="Calibri"/>
              </a:rPr>
              <a:t>2. Submit to Condor:</a:t>
            </a:r>
          </a:p>
          <a:p>
            <a:pPr algn="l">
              <a:spcAft>
                <a:spcPts val="300"/>
              </a:spcAft>
            </a:pPr>
            <a:r>
              <a:rPr sz="1000" b="0" i="0">
                <a:solidFill>
                  <a:srgbClr val="5D6D7E"/>
                </a:solidFill>
                <a:latin typeface="Calibri"/>
              </a:rPr>
              <a:t>   condor_submit modelfinder_jobs.sub</a:t>
            </a:r>
          </a:p>
          <a:p>
            <a:pPr algn="l">
              <a:spcAft>
                <a:spcPts val="300"/>
              </a:spcAft>
            </a:pPr>
            <a:r>
              <a:rPr sz="1200" b="0" i="0">
                <a:latin typeface="Calibri"/>
              </a:rPr>
              <a:t/>
            </a:r>
          </a:p>
          <a:p>
            <a:pPr algn="l">
              <a:spcAft>
                <a:spcPts val="300"/>
              </a:spcAft>
            </a:pPr>
            <a:r>
              <a:rPr sz="1100" b="1" i="0">
                <a:solidFill>
                  <a:srgbClr val="1A1A2E"/>
                </a:solidFill>
                <a:latin typeface="Calibri"/>
              </a:rPr>
              <a:t>3. Collect models after completion:</a:t>
            </a:r>
          </a:p>
          <a:p>
            <a:pPr algn="l">
              <a:spcAft>
                <a:spcPts val="300"/>
              </a:spcAft>
            </a:pPr>
            <a:r>
              <a:rPr sz="1000" b="0" i="0">
                <a:solidFill>
                  <a:srgbClr val="5D6D7E"/>
                </a:solidFill>
                <a:latin typeface="Calibri"/>
              </a:rPr>
              <a:t>   bash scripts/collect_models.sh</a:t>
            </a:r>
          </a:p>
          <a:p>
            <a:pPr algn="l">
              <a:spcAft>
                <a:spcPts val="300"/>
              </a:spcAft>
            </a:pPr>
            <a:r>
              <a:rPr sz="1200" b="0" i="0">
                <a:latin typeface="Calibri"/>
              </a:rPr>
              <a:t/>
            </a:r>
          </a:p>
          <a:p>
            <a:pPr algn="l">
              <a:spcAft>
                <a:spcPts val="300"/>
              </a:spcAft>
            </a:pPr>
            <a:r>
              <a:rPr sz="1100" b="1" i="0">
                <a:solidFill>
                  <a:srgbClr val="1ABC9C"/>
                </a:solidFill>
                <a:latin typeface="Calibri"/>
              </a:rPr>
              <a:t>Output → jobs_with_models.txt</a:t>
            </a:r>
          </a:p>
          <a:p>
            <a:pPr algn="l">
              <a:spcAft>
                <a:spcPts val="300"/>
              </a:spcAft>
            </a:pPr>
            <a:r>
              <a:rPr sz="1000" b="0" i="0">
                <a:solidFill>
                  <a:srgbClr val="1A1A2E"/>
                </a:solidFill>
                <a:latin typeface="Calibri"/>
              </a:rPr>
              <a:t>Tab-separated: filename + best model</a:t>
            </a:r>
          </a:p>
          <a:p>
            <a:pPr algn="l">
              <a:spcAft>
                <a:spcPts val="300"/>
              </a:spcAft>
            </a:pPr>
            <a:r>
              <a:rPr sz="1000" b="0" i="0">
                <a:solidFill>
                  <a:srgbClr val="1A1A2E"/>
                </a:solidFill>
                <a:latin typeface="Calibri"/>
              </a:rPr>
              <a:t>Fed directly into RAxML-NG (Phase 2a)</a:t>
            </a:r>
          </a:p>
        </p:txBody>
      </p:sp>
      <p:sp>
        <p:nvSpPr>
          <p:cNvPr id="17" name="Rectangle 16"/>
          <p:cNvSpPr/>
          <p:nvPr/>
        </p:nvSpPr>
        <p:spPr>
          <a:xfrm>
            <a:off x="5349240" y="1234440"/>
            <a:ext cx="6446520" cy="534924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68112" y="1307592"/>
            <a:ext cx="6126480" cy="384048"/>
          </a:xfrm>
          <a:prstGeom prst="rect">
            <a:avLst/>
          </a:prstGeom>
          <a:noFill/>
        </p:spPr>
        <p:txBody>
          <a:bodyPr wrap="square" lIns="45720" tIns="0" rIns="45720">
            <a:spAutoFit/>
          </a:bodyPr>
          <a:lstStyle/>
          <a:p>
            <a:pPr algn="l"/>
            <a:r>
              <a:rPr b="1" i="0" sz="1300">
                <a:solidFill>
                  <a:srgbClr val="144A7B"/>
                </a:solidFill>
                <a:latin typeface="Calibri"/>
              </a:rPr>
              <a:t>Model Selection Results (BIC)</a:t>
            </a:r>
          </a:p>
        </p:txBody>
      </p:sp>
      <p:sp>
        <p:nvSpPr>
          <p:cNvPr id="19" name="Rectangle 18"/>
          <p:cNvSpPr/>
          <p:nvPr/>
        </p:nvSpPr>
        <p:spPr>
          <a:xfrm>
            <a:off x="5349240" y="1737360"/>
            <a:ext cx="6446520" cy="384048"/>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58968" y="1801368"/>
            <a:ext cx="2560320" cy="274320"/>
          </a:xfrm>
          <a:prstGeom prst="rect">
            <a:avLst/>
          </a:prstGeom>
          <a:noFill/>
        </p:spPr>
        <p:txBody>
          <a:bodyPr wrap="square" lIns="45720" tIns="0" rIns="45720">
            <a:spAutoFit/>
          </a:bodyPr>
          <a:lstStyle/>
          <a:p>
            <a:pPr algn="l"/>
            <a:r>
              <a:rPr b="1" i="0" sz="1000">
                <a:solidFill>
                  <a:srgbClr val="FFFFFF"/>
                </a:solidFill>
                <a:latin typeface="Calibri"/>
              </a:rPr>
              <a:t>Orthogroup</a:t>
            </a:r>
          </a:p>
        </p:txBody>
      </p:sp>
      <p:sp>
        <p:nvSpPr>
          <p:cNvPr id="21" name="TextBox 20"/>
          <p:cNvSpPr txBox="1"/>
          <p:nvPr/>
        </p:nvSpPr>
        <p:spPr>
          <a:xfrm>
            <a:off x="8366760" y="1801368"/>
            <a:ext cx="3291840" cy="274320"/>
          </a:xfrm>
          <a:prstGeom prst="rect">
            <a:avLst/>
          </a:prstGeom>
          <a:noFill/>
        </p:spPr>
        <p:txBody>
          <a:bodyPr wrap="square" lIns="45720" tIns="0" rIns="45720">
            <a:spAutoFit/>
          </a:bodyPr>
          <a:lstStyle/>
          <a:p>
            <a:pPr algn="l"/>
            <a:r>
              <a:rPr b="1" i="0" sz="1000">
                <a:solidFill>
                  <a:srgbClr val="FFFFFF"/>
                </a:solidFill>
                <a:latin typeface="Calibri"/>
              </a:rPr>
              <a:t>Best Model (BIC)</a:t>
            </a:r>
          </a:p>
        </p:txBody>
      </p:sp>
      <p:sp>
        <p:nvSpPr>
          <p:cNvPr id="22" name="Rectangle 21"/>
          <p:cNvSpPr/>
          <p:nvPr/>
        </p:nvSpPr>
        <p:spPr>
          <a:xfrm>
            <a:off x="5349240" y="2121408"/>
            <a:ext cx="6446520" cy="45720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58968" y="2203703"/>
            <a:ext cx="2560320" cy="320040"/>
          </a:xfrm>
          <a:prstGeom prst="rect">
            <a:avLst/>
          </a:prstGeom>
          <a:noFill/>
        </p:spPr>
        <p:txBody>
          <a:bodyPr wrap="square" lIns="45720" tIns="0" rIns="45720">
            <a:spAutoFit/>
          </a:bodyPr>
          <a:lstStyle/>
          <a:p>
            <a:pPr algn="l"/>
            <a:r>
              <a:rPr b="1" i="0" sz="1000">
                <a:solidFill>
                  <a:srgbClr val="1A1A2E"/>
                </a:solidFill>
                <a:latin typeface="Calibri"/>
              </a:rPr>
              <a:t>OG0000007</a:t>
            </a:r>
          </a:p>
        </p:txBody>
      </p:sp>
      <p:sp>
        <p:nvSpPr>
          <p:cNvPr id="24" name="TextBox 23"/>
          <p:cNvSpPr txBox="1"/>
          <p:nvPr/>
        </p:nvSpPr>
        <p:spPr>
          <a:xfrm>
            <a:off x="8366760" y="2203703"/>
            <a:ext cx="3291840" cy="320040"/>
          </a:xfrm>
          <a:prstGeom prst="rect">
            <a:avLst/>
          </a:prstGeom>
          <a:noFill/>
        </p:spPr>
        <p:txBody>
          <a:bodyPr wrap="square" lIns="45720" tIns="0" rIns="45720">
            <a:spAutoFit/>
          </a:bodyPr>
          <a:lstStyle/>
          <a:p>
            <a:pPr algn="l"/>
            <a:r>
              <a:rPr b="0" i="0" sz="1000">
                <a:solidFill>
                  <a:srgbClr val="0B5E44"/>
                </a:solidFill>
                <a:latin typeface="Calibri"/>
              </a:rPr>
              <a:t>Q.YEAST+F+R10</a:t>
            </a:r>
          </a:p>
        </p:txBody>
      </p:sp>
      <p:sp>
        <p:nvSpPr>
          <p:cNvPr id="25" name="Rectangle 24"/>
          <p:cNvSpPr/>
          <p:nvPr/>
        </p:nvSpPr>
        <p:spPr>
          <a:xfrm>
            <a:off x="5349240" y="2596896"/>
            <a:ext cx="6446520" cy="4572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58968" y="2679191"/>
            <a:ext cx="2560320" cy="320040"/>
          </a:xfrm>
          <a:prstGeom prst="rect">
            <a:avLst/>
          </a:prstGeom>
          <a:noFill/>
        </p:spPr>
        <p:txBody>
          <a:bodyPr wrap="square" lIns="45720" tIns="0" rIns="45720">
            <a:spAutoFit/>
          </a:bodyPr>
          <a:lstStyle/>
          <a:p>
            <a:pPr algn="l"/>
            <a:r>
              <a:rPr b="1" i="0" sz="1000">
                <a:solidFill>
                  <a:srgbClr val="1A1A2E"/>
                </a:solidFill>
                <a:latin typeface="Calibri"/>
              </a:rPr>
              <a:t>OG0000008</a:t>
            </a:r>
          </a:p>
        </p:txBody>
      </p:sp>
      <p:sp>
        <p:nvSpPr>
          <p:cNvPr id="27" name="TextBox 26"/>
          <p:cNvSpPr txBox="1"/>
          <p:nvPr/>
        </p:nvSpPr>
        <p:spPr>
          <a:xfrm>
            <a:off x="8366760" y="2679191"/>
            <a:ext cx="3291840" cy="320040"/>
          </a:xfrm>
          <a:prstGeom prst="rect">
            <a:avLst/>
          </a:prstGeom>
          <a:noFill/>
        </p:spPr>
        <p:txBody>
          <a:bodyPr wrap="square" lIns="45720" tIns="0" rIns="45720">
            <a:spAutoFit/>
          </a:bodyPr>
          <a:lstStyle/>
          <a:p>
            <a:pPr algn="l"/>
            <a:r>
              <a:rPr b="0" i="0" sz="1000">
                <a:solidFill>
                  <a:srgbClr val="0B5E44"/>
                </a:solidFill>
                <a:latin typeface="Calibri"/>
              </a:rPr>
              <a:t>LG+F+R10</a:t>
            </a:r>
          </a:p>
        </p:txBody>
      </p:sp>
      <p:sp>
        <p:nvSpPr>
          <p:cNvPr id="28" name="Rectangle 27"/>
          <p:cNvSpPr/>
          <p:nvPr/>
        </p:nvSpPr>
        <p:spPr>
          <a:xfrm>
            <a:off x="5349240" y="3072384"/>
            <a:ext cx="6446520" cy="45720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58968" y="3154679"/>
            <a:ext cx="2560320" cy="320040"/>
          </a:xfrm>
          <a:prstGeom prst="rect">
            <a:avLst/>
          </a:prstGeom>
          <a:noFill/>
        </p:spPr>
        <p:txBody>
          <a:bodyPr wrap="square" lIns="45720" tIns="0" rIns="45720">
            <a:spAutoFit/>
          </a:bodyPr>
          <a:lstStyle/>
          <a:p>
            <a:pPr algn="l"/>
            <a:r>
              <a:rPr b="1" i="0" sz="1000">
                <a:solidFill>
                  <a:srgbClr val="1A1A2E"/>
                </a:solidFill>
                <a:latin typeface="Calibri"/>
              </a:rPr>
              <a:t>OG0000009</a:t>
            </a:r>
          </a:p>
        </p:txBody>
      </p:sp>
      <p:sp>
        <p:nvSpPr>
          <p:cNvPr id="30" name="TextBox 29"/>
          <p:cNvSpPr txBox="1"/>
          <p:nvPr/>
        </p:nvSpPr>
        <p:spPr>
          <a:xfrm>
            <a:off x="8366760" y="3154679"/>
            <a:ext cx="3291840" cy="320040"/>
          </a:xfrm>
          <a:prstGeom prst="rect">
            <a:avLst/>
          </a:prstGeom>
          <a:noFill/>
        </p:spPr>
        <p:txBody>
          <a:bodyPr wrap="square" lIns="45720" tIns="0" rIns="45720">
            <a:spAutoFit/>
          </a:bodyPr>
          <a:lstStyle/>
          <a:p>
            <a:pPr algn="l"/>
            <a:r>
              <a:rPr b="0" i="0" sz="1000">
                <a:solidFill>
                  <a:srgbClr val="0B5E44"/>
                </a:solidFill>
                <a:latin typeface="Calibri"/>
              </a:rPr>
              <a:t>LG+R10</a:t>
            </a:r>
          </a:p>
        </p:txBody>
      </p:sp>
      <p:sp>
        <p:nvSpPr>
          <p:cNvPr id="31" name="Rectangle 30"/>
          <p:cNvSpPr/>
          <p:nvPr/>
        </p:nvSpPr>
        <p:spPr>
          <a:xfrm>
            <a:off x="5349240" y="3547872"/>
            <a:ext cx="6446520" cy="4572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58968" y="3630168"/>
            <a:ext cx="2560320" cy="320040"/>
          </a:xfrm>
          <a:prstGeom prst="rect">
            <a:avLst/>
          </a:prstGeom>
          <a:noFill/>
        </p:spPr>
        <p:txBody>
          <a:bodyPr wrap="square" lIns="45720" tIns="0" rIns="45720">
            <a:spAutoFit/>
          </a:bodyPr>
          <a:lstStyle/>
          <a:p>
            <a:pPr algn="l"/>
            <a:r>
              <a:rPr b="1" i="0" sz="1000">
                <a:solidFill>
                  <a:srgbClr val="1A1A2E"/>
                </a:solidFill>
                <a:latin typeface="Calibri"/>
              </a:rPr>
              <a:t>OG0000020</a:t>
            </a:r>
          </a:p>
        </p:txBody>
      </p:sp>
      <p:sp>
        <p:nvSpPr>
          <p:cNvPr id="33" name="TextBox 32"/>
          <p:cNvSpPr txBox="1"/>
          <p:nvPr/>
        </p:nvSpPr>
        <p:spPr>
          <a:xfrm>
            <a:off x="8366760" y="3630168"/>
            <a:ext cx="3291840" cy="320040"/>
          </a:xfrm>
          <a:prstGeom prst="rect">
            <a:avLst/>
          </a:prstGeom>
          <a:noFill/>
        </p:spPr>
        <p:txBody>
          <a:bodyPr wrap="square" lIns="45720" tIns="0" rIns="45720">
            <a:spAutoFit/>
          </a:bodyPr>
          <a:lstStyle/>
          <a:p>
            <a:pPr algn="l"/>
            <a:r>
              <a:rPr b="0" i="0" sz="1000">
                <a:solidFill>
                  <a:srgbClr val="0B5E44"/>
                </a:solidFill>
                <a:latin typeface="Calibri"/>
              </a:rPr>
              <a:t>Q.YEAST+R10</a:t>
            </a:r>
          </a:p>
        </p:txBody>
      </p:sp>
      <p:sp>
        <p:nvSpPr>
          <p:cNvPr id="34" name="Rectangle 33"/>
          <p:cNvSpPr/>
          <p:nvPr/>
        </p:nvSpPr>
        <p:spPr>
          <a:xfrm>
            <a:off x="5349240" y="4023360"/>
            <a:ext cx="6446520" cy="45720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58968" y="4105656"/>
            <a:ext cx="2560320" cy="320040"/>
          </a:xfrm>
          <a:prstGeom prst="rect">
            <a:avLst/>
          </a:prstGeom>
          <a:noFill/>
        </p:spPr>
        <p:txBody>
          <a:bodyPr wrap="square" lIns="45720" tIns="0" rIns="45720">
            <a:spAutoFit/>
          </a:bodyPr>
          <a:lstStyle/>
          <a:p>
            <a:pPr algn="l"/>
            <a:r>
              <a:rPr b="1" i="0" sz="1000">
                <a:solidFill>
                  <a:srgbClr val="1A1A2E"/>
                </a:solidFill>
                <a:latin typeface="Calibri"/>
              </a:rPr>
              <a:t>OG0000029</a:t>
            </a:r>
          </a:p>
        </p:txBody>
      </p:sp>
      <p:sp>
        <p:nvSpPr>
          <p:cNvPr id="36" name="TextBox 35"/>
          <p:cNvSpPr txBox="1"/>
          <p:nvPr/>
        </p:nvSpPr>
        <p:spPr>
          <a:xfrm>
            <a:off x="8366760" y="4105656"/>
            <a:ext cx="3291840" cy="320040"/>
          </a:xfrm>
          <a:prstGeom prst="rect">
            <a:avLst/>
          </a:prstGeom>
          <a:noFill/>
        </p:spPr>
        <p:txBody>
          <a:bodyPr wrap="square" lIns="45720" tIns="0" rIns="45720">
            <a:spAutoFit/>
          </a:bodyPr>
          <a:lstStyle/>
          <a:p>
            <a:pPr algn="l"/>
            <a:r>
              <a:rPr b="0" i="0" sz="1000">
                <a:solidFill>
                  <a:srgbClr val="0B5E44"/>
                </a:solidFill>
                <a:latin typeface="Calibri"/>
              </a:rPr>
              <a:t>LG+F+R9</a:t>
            </a:r>
          </a:p>
        </p:txBody>
      </p:sp>
      <p:sp>
        <p:nvSpPr>
          <p:cNvPr id="37" name="Rectangle 36"/>
          <p:cNvSpPr/>
          <p:nvPr/>
        </p:nvSpPr>
        <p:spPr>
          <a:xfrm>
            <a:off x="5349240" y="4498848"/>
            <a:ext cx="6446520" cy="4572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58968" y="4581144"/>
            <a:ext cx="2560320" cy="320040"/>
          </a:xfrm>
          <a:prstGeom prst="rect">
            <a:avLst/>
          </a:prstGeom>
          <a:noFill/>
        </p:spPr>
        <p:txBody>
          <a:bodyPr wrap="square" lIns="45720" tIns="0" rIns="45720">
            <a:spAutoFit/>
          </a:bodyPr>
          <a:lstStyle/>
          <a:p>
            <a:pPr algn="l"/>
            <a:r>
              <a:rPr b="1" i="0" sz="1000">
                <a:solidFill>
                  <a:srgbClr val="1A1A2E"/>
                </a:solidFill>
                <a:latin typeface="Calibri"/>
              </a:rPr>
              <a:t>OG0000032</a:t>
            </a:r>
          </a:p>
        </p:txBody>
      </p:sp>
      <p:sp>
        <p:nvSpPr>
          <p:cNvPr id="39" name="TextBox 38"/>
          <p:cNvSpPr txBox="1"/>
          <p:nvPr/>
        </p:nvSpPr>
        <p:spPr>
          <a:xfrm>
            <a:off x="8366760" y="4581144"/>
            <a:ext cx="3291840" cy="320040"/>
          </a:xfrm>
          <a:prstGeom prst="rect">
            <a:avLst/>
          </a:prstGeom>
          <a:noFill/>
        </p:spPr>
        <p:txBody>
          <a:bodyPr wrap="square" lIns="45720" tIns="0" rIns="45720">
            <a:spAutoFit/>
          </a:bodyPr>
          <a:lstStyle/>
          <a:p>
            <a:pPr algn="l"/>
            <a:r>
              <a:rPr b="0" i="0" sz="1000">
                <a:solidFill>
                  <a:srgbClr val="0B5E44"/>
                </a:solidFill>
                <a:latin typeface="Calibri"/>
              </a:rPr>
              <a:t>LG+F+R9</a:t>
            </a:r>
          </a:p>
        </p:txBody>
      </p:sp>
      <p:sp>
        <p:nvSpPr>
          <p:cNvPr id="40" name="Rectangle 39"/>
          <p:cNvSpPr/>
          <p:nvPr/>
        </p:nvSpPr>
        <p:spPr>
          <a:xfrm>
            <a:off x="5349240" y="4974336"/>
            <a:ext cx="6446520" cy="45720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58968" y="5056631"/>
            <a:ext cx="2560320" cy="320040"/>
          </a:xfrm>
          <a:prstGeom prst="rect">
            <a:avLst/>
          </a:prstGeom>
          <a:noFill/>
        </p:spPr>
        <p:txBody>
          <a:bodyPr wrap="square" lIns="45720" tIns="0" rIns="45720">
            <a:spAutoFit/>
          </a:bodyPr>
          <a:lstStyle/>
          <a:p>
            <a:pPr algn="l"/>
            <a:r>
              <a:rPr b="1" i="0" sz="1000">
                <a:solidFill>
                  <a:srgbClr val="1A1A2E"/>
                </a:solidFill>
                <a:latin typeface="Calibri"/>
              </a:rPr>
              <a:t>OG0000044</a:t>
            </a:r>
          </a:p>
        </p:txBody>
      </p:sp>
      <p:sp>
        <p:nvSpPr>
          <p:cNvPr id="42" name="TextBox 41"/>
          <p:cNvSpPr txBox="1"/>
          <p:nvPr/>
        </p:nvSpPr>
        <p:spPr>
          <a:xfrm>
            <a:off x="8366760" y="5056631"/>
            <a:ext cx="3291840" cy="320040"/>
          </a:xfrm>
          <a:prstGeom prst="rect">
            <a:avLst/>
          </a:prstGeom>
          <a:noFill/>
        </p:spPr>
        <p:txBody>
          <a:bodyPr wrap="square" lIns="45720" tIns="0" rIns="45720">
            <a:spAutoFit/>
          </a:bodyPr>
          <a:lstStyle/>
          <a:p>
            <a:pPr algn="l"/>
            <a:r>
              <a:rPr b="0" i="0" sz="1000">
                <a:solidFill>
                  <a:srgbClr val="0B5E44"/>
                </a:solidFill>
                <a:latin typeface="Calibri"/>
              </a:rPr>
              <a:t>LG+F+R10</a:t>
            </a:r>
          </a:p>
        </p:txBody>
      </p:sp>
      <p:sp>
        <p:nvSpPr>
          <p:cNvPr id="43" name="Rectangle 42"/>
          <p:cNvSpPr/>
          <p:nvPr/>
        </p:nvSpPr>
        <p:spPr>
          <a:xfrm>
            <a:off x="5349240" y="5449824"/>
            <a:ext cx="6446520" cy="4572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58968" y="5532120"/>
            <a:ext cx="2560320" cy="320040"/>
          </a:xfrm>
          <a:prstGeom prst="rect">
            <a:avLst/>
          </a:prstGeom>
          <a:noFill/>
        </p:spPr>
        <p:txBody>
          <a:bodyPr wrap="square" lIns="45720" tIns="0" rIns="45720">
            <a:spAutoFit/>
          </a:bodyPr>
          <a:lstStyle/>
          <a:p>
            <a:pPr algn="l"/>
            <a:r>
              <a:rPr b="1" i="0" sz="1000">
                <a:solidFill>
                  <a:srgbClr val="1A1A2E"/>
                </a:solidFill>
                <a:latin typeface="Calibri"/>
              </a:rPr>
              <a:t>OG0000067</a:t>
            </a:r>
          </a:p>
        </p:txBody>
      </p:sp>
      <p:sp>
        <p:nvSpPr>
          <p:cNvPr id="45" name="TextBox 44"/>
          <p:cNvSpPr txBox="1"/>
          <p:nvPr/>
        </p:nvSpPr>
        <p:spPr>
          <a:xfrm>
            <a:off x="8366760" y="5532120"/>
            <a:ext cx="3291840" cy="320040"/>
          </a:xfrm>
          <a:prstGeom prst="rect">
            <a:avLst/>
          </a:prstGeom>
          <a:noFill/>
        </p:spPr>
        <p:txBody>
          <a:bodyPr wrap="square" lIns="45720" tIns="0" rIns="45720">
            <a:spAutoFit/>
          </a:bodyPr>
          <a:lstStyle/>
          <a:p>
            <a:pPr algn="l"/>
            <a:r>
              <a:rPr b="0" i="0" sz="1000">
                <a:solidFill>
                  <a:srgbClr val="0B5E44"/>
                </a:solidFill>
                <a:latin typeface="Calibri"/>
              </a:rPr>
              <a:t>LG+F+R9</a:t>
            </a:r>
          </a:p>
        </p:txBody>
      </p:sp>
      <p:sp>
        <p:nvSpPr>
          <p:cNvPr id="46" name="Rectangle 45"/>
          <p:cNvSpPr/>
          <p:nvPr/>
        </p:nvSpPr>
        <p:spPr>
          <a:xfrm>
            <a:off x="5349240" y="5925312"/>
            <a:ext cx="6446520" cy="457200"/>
          </a:xfrm>
          <a:prstGeom prst="rect">
            <a:avLst/>
          </a:prstGeom>
          <a:solidFill>
            <a:srgbClr val="FCE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58968" y="6007608"/>
            <a:ext cx="2560320" cy="320040"/>
          </a:xfrm>
          <a:prstGeom prst="rect">
            <a:avLst/>
          </a:prstGeom>
          <a:noFill/>
        </p:spPr>
        <p:txBody>
          <a:bodyPr wrap="square" lIns="45720" tIns="0" rIns="45720">
            <a:spAutoFit/>
          </a:bodyPr>
          <a:lstStyle/>
          <a:p>
            <a:pPr algn="l"/>
            <a:r>
              <a:rPr b="1" i="0" sz="1000">
                <a:solidFill>
                  <a:srgbClr val="B02626"/>
                </a:solidFill>
                <a:latin typeface="Calibri"/>
              </a:rPr>
              <a:t>OG0007179</a:t>
            </a:r>
          </a:p>
        </p:txBody>
      </p:sp>
      <p:sp>
        <p:nvSpPr>
          <p:cNvPr id="48" name="TextBox 47"/>
          <p:cNvSpPr txBox="1"/>
          <p:nvPr/>
        </p:nvSpPr>
        <p:spPr>
          <a:xfrm>
            <a:off x="8366760" y="6007608"/>
            <a:ext cx="3291840" cy="320040"/>
          </a:xfrm>
          <a:prstGeom prst="rect">
            <a:avLst/>
          </a:prstGeom>
          <a:noFill/>
        </p:spPr>
        <p:txBody>
          <a:bodyPr wrap="square" lIns="45720" tIns="0" rIns="45720">
            <a:spAutoFit/>
          </a:bodyPr>
          <a:lstStyle/>
          <a:p>
            <a:pPr algn="l"/>
            <a:r>
              <a:rPr b="0" i="0" sz="1000">
                <a:solidFill>
                  <a:srgbClr val="B02626"/>
                </a:solidFill>
                <a:latin typeface="Calibri"/>
              </a:rPr>
              <a:t>REMOVED — no outgroup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4864"/>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515600" cy="731520"/>
          </a:xfrm>
          <a:prstGeom prst="rect">
            <a:avLst/>
          </a:prstGeom>
          <a:noFill/>
        </p:spPr>
        <p:txBody>
          <a:bodyPr wrap="square" lIns="45720" rIns="45720">
            <a:spAutoFit/>
          </a:bodyPr>
          <a:lstStyle/>
          <a:p>
            <a:pPr algn="l"/>
            <a:r>
              <a:rPr b="1" i="0" sz="2800">
                <a:solidFill>
                  <a:srgbClr val="FFFFFF"/>
                </a:solidFill>
                <a:latin typeface="Calibri"/>
              </a:rPr>
              <a:t>Phase 2 — Tree Inference</a:t>
            </a:r>
          </a:p>
        </p:txBody>
      </p:sp>
      <p:sp>
        <p:nvSpPr>
          <p:cNvPr id="5" name="TextBox 4"/>
          <p:cNvSpPr txBox="1"/>
          <p:nvPr/>
        </p:nvSpPr>
        <p:spPr>
          <a:xfrm>
            <a:off x="365760" y="713232"/>
            <a:ext cx="8229600" cy="320040"/>
          </a:xfrm>
          <a:prstGeom prst="rect">
            <a:avLst/>
          </a:prstGeom>
          <a:noFill/>
        </p:spPr>
        <p:txBody>
          <a:bodyPr wrap="square" lIns="45720" tIns="0" rIns="45720">
            <a:spAutoFit/>
          </a:bodyPr>
          <a:lstStyle/>
          <a:p>
            <a:pPr algn="l"/>
            <a:r>
              <a:rPr b="0" i="1" sz="1300">
                <a:solidFill>
                  <a:srgbClr val="D6EAF8"/>
                </a:solidFill>
                <a:latin typeface="Calibri"/>
              </a:rPr>
              <a:t>2a: RAxML-NG (ML) · 2b: BEAST2 (Bayesian) · 2c: ASTRAL (coalescent)</a:t>
            </a:r>
          </a:p>
        </p:txBody>
      </p:sp>
      <p:sp>
        <p:nvSpPr>
          <p:cNvPr id="6" name="Rectangle 5"/>
          <p:cNvSpPr/>
          <p:nvPr/>
        </p:nvSpPr>
        <p:spPr>
          <a:xfrm>
            <a:off x="347472" y="1234440"/>
            <a:ext cx="3794760" cy="5349240"/>
          </a:xfrm>
          <a:prstGeom prst="rect">
            <a:avLst/>
          </a:prstGeom>
          <a:solidFill>
            <a:srgbClr val="114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7472" y="1234440"/>
            <a:ext cx="3794760" cy="1234440"/>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280160"/>
            <a:ext cx="3566160" cy="310896"/>
          </a:xfrm>
          <a:prstGeom prst="rect">
            <a:avLst/>
          </a:prstGeom>
          <a:noFill/>
        </p:spPr>
        <p:txBody>
          <a:bodyPr wrap="square" lIns="45720" tIns="0" rIns="45720">
            <a:spAutoFit/>
          </a:bodyPr>
          <a:lstStyle/>
          <a:p>
            <a:pPr algn="l"/>
            <a:r>
              <a:rPr b="1" i="0" sz="1100">
                <a:solidFill>
                  <a:srgbClr val="D5EAF8"/>
                </a:solidFill>
                <a:latin typeface="Calibri"/>
              </a:rPr>
              <a:t>Phase 2a</a:t>
            </a:r>
          </a:p>
        </p:txBody>
      </p:sp>
      <p:sp>
        <p:nvSpPr>
          <p:cNvPr id="9" name="TextBox 8"/>
          <p:cNvSpPr txBox="1"/>
          <p:nvPr/>
        </p:nvSpPr>
        <p:spPr>
          <a:xfrm>
            <a:off x="475488" y="1572768"/>
            <a:ext cx="3566160" cy="841248"/>
          </a:xfrm>
          <a:prstGeom prst="rect">
            <a:avLst/>
          </a:prstGeom>
          <a:noFill/>
        </p:spPr>
        <p:txBody>
          <a:bodyPr wrap="square" lIns="45720" tIns="0" rIns="45720">
            <a:spAutoFit/>
          </a:bodyPr>
          <a:lstStyle/>
          <a:p>
            <a:pPr algn="l"/>
            <a:r>
              <a:rPr b="1" i="0" sz="1600">
                <a:solidFill>
                  <a:srgbClr val="FFFFFF"/>
                </a:solidFill>
                <a:latin typeface="Calibri"/>
              </a:rPr>
              <a:t>Maximum Likelihood
Trees (RAxML-NG)</a:t>
            </a:r>
          </a:p>
        </p:txBody>
      </p:sp>
      <p:sp>
        <p:nvSpPr>
          <p:cNvPr id="10" name="TextBox 9"/>
          <p:cNvSpPr txBox="1"/>
          <p:nvPr/>
        </p:nvSpPr>
        <p:spPr>
          <a:xfrm>
            <a:off x="475488" y="2542032"/>
            <a:ext cx="3520440" cy="3931920"/>
          </a:xfrm>
          <a:prstGeom prst="rect">
            <a:avLst/>
          </a:prstGeom>
          <a:noFill/>
        </p:spPr>
        <p:txBody>
          <a:bodyPr wrap="square" rIns="45720">
            <a:spAutoFit/>
          </a:bodyPr>
          <a:lstStyle/>
          <a:p>
            <a:pPr>
              <a:spcAft>
                <a:spcPts val="300"/>
              </a:spcAft>
              <a:buChar char="▸"/>
            </a:pPr>
            <a:r>
              <a:rPr sz="1100" b="0" i="0">
                <a:solidFill>
                  <a:srgbClr val="D5EAF8"/>
                </a:solidFill>
                <a:latin typeface="Calibri"/>
              </a:rPr>
              <a:t>8 OGs run in parallel on Condor</a:t>
            </a:r>
          </a:p>
          <a:p>
            <a:pPr>
              <a:spcAft>
                <a:spcPts val="300"/>
              </a:spcAft>
              <a:buChar char="▸"/>
            </a:pPr>
            <a:r>
              <a:rPr sz="1100" b="0" i="0">
                <a:solidFill>
                  <a:srgbClr val="D5EAF8"/>
                </a:solidFill>
                <a:latin typeface="Calibri"/>
              </a:rPr>
              <a:t>Per-OG substitution model from jobs_with_models.txt</a:t>
            </a:r>
          </a:p>
          <a:p>
            <a:pPr>
              <a:spcAft>
                <a:spcPts val="300"/>
              </a:spcAft>
              <a:buChar char="▸"/>
            </a:pPr>
            <a:r>
              <a:rPr sz="1100" b="0" i="0">
                <a:solidFill>
                  <a:srgbClr val="D5EAF8"/>
                </a:solidFill>
                <a:latin typeface="Calibri"/>
              </a:rPr>
              <a:t>10 parsimony + 10 random starting trees</a:t>
            </a:r>
          </a:p>
          <a:p>
            <a:pPr>
              <a:spcAft>
                <a:spcPts val="300"/>
              </a:spcAft>
              <a:buChar char="▸"/>
            </a:pPr>
            <a:r>
              <a:rPr sz="1100" b="0" i="0">
                <a:solidFill>
                  <a:srgbClr val="D5EAF8"/>
                </a:solidFill>
                <a:latin typeface="Calibri"/>
              </a:rPr>
              <a:t>100 bootstrap replicates (≥70% = well-supported)</a:t>
            </a:r>
          </a:p>
          <a:p>
            <a:pPr>
              <a:spcAft>
                <a:spcPts val="300"/>
              </a:spcAft>
              <a:buChar char="▸"/>
            </a:pPr>
            <a:r>
              <a:rPr sz="1100" b="0" i="0">
                <a:solidFill>
                  <a:srgbClr val="D5EAF8"/>
                </a:solidFill>
                <a:latin typeface="Calibri"/>
              </a:rPr>
              <a:t>10 CPUs · 8 GB RAM per job · ~2 hrs each</a:t>
            </a:r>
          </a:p>
          <a:p>
            <a:pPr>
              <a:spcAft>
                <a:spcPts val="300"/>
              </a:spcAft>
              <a:buChar char="▸"/>
            </a:pPr>
            <a:r>
              <a:rPr sz="1100" b="0" i="0">
                <a:solidFill>
                  <a:srgbClr val="D5EAF8"/>
                </a:solidFill>
                <a:latin typeface="Calibri"/>
              </a:rPr>
              <a:t>Seed 12345 for reproducibility</a:t>
            </a:r>
          </a:p>
          <a:p>
            <a:pPr>
              <a:spcAft>
                <a:spcPts val="300"/>
              </a:spcAft>
              <a:buChar char="▸"/>
            </a:pPr>
            <a:r>
              <a:rPr sz="1100" b="0" i="0">
                <a:solidFill>
                  <a:srgbClr val="D5EAF8"/>
                </a:solidFill>
                <a:latin typeface="Calibri"/>
              </a:rPr>
              <a:t>Output: OG*.raxml.support (main result)</a:t>
            </a:r>
          </a:p>
        </p:txBody>
      </p:sp>
      <p:sp>
        <p:nvSpPr>
          <p:cNvPr id="11" name="Rectangle 10"/>
          <p:cNvSpPr/>
          <p:nvPr/>
        </p:nvSpPr>
        <p:spPr>
          <a:xfrm>
            <a:off x="4306824" y="1234440"/>
            <a:ext cx="3794760" cy="5349240"/>
          </a:xfrm>
          <a:prstGeom prst="rect">
            <a:avLst/>
          </a:prstGeom>
          <a:solidFill>
            <a:srgbClr val="6B27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06824" y="1234440"/>
            <a:ext cx="3794760" cy="1234440"/>
          </a:xfrm>
          <a:prstGeom prst="rect">
            <a:avLst/>
          </a:prstGeom>
          <a:solidFill>
            <a:srgbClr val="7D3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280160"/>
            <a:ext cx="3566160" cy="310896"/>
          </a:xfrm>
          <a:prstGeom prst="rect">
            <a:avLst/>
          </a:prstGeom>
          <a:noFill/>
        </p:spPr>
        <p:txBody>
          <a:bodyPr wrap="square" lIns="45720" tIns="0" rIns="45720">
            <a:spAutoFit/>
          </a:bodyPr>
          <a:lstStyle/>
          <a:p>
            <a:pPr algn="l"/>
            <a:r>
              <a:rPr b="1" i="0" sz="1100">
                <a:solidFill>
                  <a:srgbClr val="D5EAF8"/>
                </a:solidFill>
                <a:latin typeface="Calibri"/>
              </a:rPr>
              <a:t>Phase 2b</a:t>
            </a:r>
          </a:p>
        </p:txBody>
      </p:sp>
      <p:sp>
        <p:nvSpPr>
          <p:cNvPr id="14" name="TextBox 13"/>
          <p:cNvSpPr txBox="1"/>
          <p:nvPr/>
        </p:nvSpPr>
        <p:spPr>
          <a:xfrm>
            <a:off x="4434840" y="1572768"/>
            <a:ext cx="3566160" cy="841248"/>
          </a:xfrm>
          <a:prstGeom prst="rect">
            <a:avLst/>
          </a:prstGeom>
          <a:noFill/>
        </p:spPr>
        <p:txBody>
          <a:bodyPr wrap="square" lIns="45720" tIns="0" rIns="45720">
            <a:spAutoFit/>
          </a:bodyPr>
          <a:lstStyle/>
          <a:p>
            <a:pPr algn="l"/>
            <a:r>
              <a:rPr b="1" i="0" sz="1600">
                <a:solidFill>
                  <a:srgbClr val="FFFFFF"/>
                </a:solidFill>
                <a:latin typeface="Calibri"/>
              </a:rPr>
              <a:t>Bayesian Time-Calibrated
Trees (BEAST2)</a:t>
            </a:r>
          </a:p>
        </p:txBody>
      </p:sp>
      <p:sp>
        <p:nvSpPr>
          <p:cNvPr id="15" name="TextBox 14"/>
          <p:cNvSpPr txBox="1"/>
          <p:nvPr/>
        </p:nvSpPr>
        <p:spPr>
          <a:xfrm>
            <a:off x="4434840" y="2542032"/>
            <a:ext cx="3520440" cy="3931920"/>
          </a:xfrm>
          <a:prstGeom prst="rect">
            <a:avLst/>
          </a:prstGeom>
          <a:noFill/>
        </p:spPr>
        <p:txBody>
          <a:bodyPr wrap="square" rIns="45720">
            <a:spAutoFit/>
          </a:bodyPr>
          <a:lstStyle/>
          <a:p>
            <a:pPr>
              <a:spcAft>
                <a:spcPts val="300"/>
              </a:spcAft>
              <a:buChar char="▸"/>
            </a:pPr>
            <a:r>
              <a:rPr sz="1100" b="0" i="0">
                <a:solidFill>
                  <a:srgbClr val="D5EAF8"/>
                </a:solidFill>
                <a:latin typeface="Calibri"/>
              </a:rPr>
              <a:t>Runs in parallel with Phase 2a</a:t>
            </a:r>
          </a:p>
          <a:p>
            <a:pPr>
              <a:spcAft>
                <a:spcPts val="300"/>
              </a:spcAft>
              <a:buChar char="▸"/>
            </a:pPr>
            <a:r>
              <a:rPr sz="1100" b="0" i="0">
                <a:solidFill>
                  <a:srgbClr val="D5EAF8"/>
                </a:solidFill>
                <a:latin typeface="Calibri"/>
              </a:rPr>
              <a:t>Relaxed lognormal clock model (UCRelaxedClockModel)</a:t>
            </a:r>
          </a:p>
          <a:p>
            <a:pPr>
              <a:spcAft>
                <a:spcPts val="300"/>
              </a:spcAft>
              <a:buChar char="▸"/>
            </a:pPr>
            <a:r>
              <a:rPr sz="1100" b="0" i="0">
                <a:solidFill>
                  <a:srgbClr val="D5EAF8"/>
                </a:solidFill>
                <a:latin typeface="Calibri"/>
              </a:rPr>
              <a:t>Birth-Death tree prior (speciation + extinction)</a:t>
            </a:r>
          </a:p>
          <a:p>
            <a:pPr>
              <a:spcAft>
                <a:spcPts val="300"/>
              </a:spcAft>
              <a:buChar char="▸"/>
            </a:pPr>
            <a:r>
              <a:rPr sz="1100" b="0" i="0">
                <a:solidFill>
                  <a:srgbClr val="D5EAF8"/>
                </a:solidFill>
                <a:latin typeface="Calibri"/>
              </a:rPr>
              <a:t>50M MCMC steps · log every 5,000 → 10k samples</a:t>
            </a:r>
          </a:p>
          <a:p>
            <a:pPr>
              <a:spcAft>
                <a:spcPts val="300"/>
              </a:spcAft>
              <a:buChar char="▸"/>
            </a:pPr>
            <a:r>
              <a:rPr sz="1100" b="0" i="0">
                <a:solidFill>
                  <a:srgbClr val="D5EAF8"/>
                </a:solidFill>
                <a:latin typeface="Calibri"/>
              </a:rPr>
              <a:t>3 MRCA calibration anchors (Shen et al. 2018)</a:t>
            </a:r>
          </a:p>
          <a:p>
            <a:pPr>
              <a:spcAft>
                <a:spcPts val="300"/>
              </a:spcAft>
              <a:buChar char="▸"/>
            </a:pPr>
            <a:r>
              <a:rPr sz="1100" b="0" i="0">
                <a:solidFill>
                  <a:srgbClr val="D5EAF8"/>
                </a:solidFill>
                <a:latin typeface="Calibri"/>
              </a:rPr>
              <a:t>IQ-TREE treefile used as starting tree for BEAST2</a:t>
            </a:r>
          </a:p>
          <a:p>
            <a:pPr>
              <a:spcAft>
                <a:spcPts val="300"/>
              </a:spcAft>
              <a:buChar char="▸"/>
            </a:pPr>
            <a:r>
              <a:rPr sz="1100" b="0" i="0">
                <a:solidFill>
                  <a:srgbClr val="D5EAF8"/>
                </a:solidFill>
                <a:latin typeface="Calibri"/>
              </a:rPr>
              <a:t>ESS &gt; 200 required — check in Tracer</a:t>
            </a:r>
          </a:p>
        </p:txBody>
      </p:sp>
      <p:sp>
        <p:nvSpPr>
          <p:cNvPr id="16" name="Rectangle 15"/>
          <p:cNvSpPr/>
          <p:nvPr/>
        </p:nvSpPr>
        <p:spPr>
          <a:xfrm>
            <a:off x="8266176" y="1234440"/>
            <a:ext cx="3794760" cy="5349240"/>
          </a:xfrm>
          <a:prstGeom prst="rect">
            <a:avLst/>
          </a:prstGeom>
          <a:solidFill>
            <a:srgbClr val="094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66176" y="1234440"/>
            <a:ext cx="3794760" cy="1234440"/>
          </a:xfrm>
          <a:prstGeom prst="rect">
            <a:avLst/>
          </a:prstGeom>
          <a:solidFill>
            <a:srgbClr val="0B5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94192" y="1280160"/>
            <a:ext cx="3566160" cy="310896"/>
          </a:xfrm>
          <a:prstGeom prst="rect">
            <a:avLst/>
          </a:prstGeom>
          <a:noFill/>
        </p:spPr>
        <p:txBody>
          <a:bodyPr wrap="square" lIns="45720" tIns="0" rIns="45720">
            <a:spAutoFit/>
          </a:bodyPr>
          <a:lstStyle/>
          <a:p>
            <a:pPr algn="l"/>
            <a:r>
              <a:rPr b="1" i="0" sz="1100">
                <a:solidFill>
                  <a:srgbClr val="D5EAF8"/>
                </a:solidFill>
                <a:latin typeface="Calibri"/>
              </a:rPr>
              <a:t>Phase 2c</a:t>
            </a:r>
          </a:p>
        </p:txBody>
      </p:sp>
      <p:sp>
        <p:nvSpPr>
          <p:cNvPr id="19" name="TextBox 18"/>
          <p:cNvSpPr txBox="1"/>
          <p:nvPr/>
        </p:nvSpPr>
        <p:spPr>
          <a:xfrm>
            <a:off x="8394192" y="1572768"/>
            <a:ext cx="3566160" cy="841248"/>
          </a:xfrm>
          <a:prstGeom prst="rect">
            <a:avLst/>
          </a:prstGeom>
          <a:noFill/>
        </p:spPr>
        <p:txBody>
          <a:bodyPr wrap="square" lIns="45720" tIns="0" rIns="45720">
            <a:spAutoFit/>
          </a:bodyPr>
          <a:lstStyle/>
          <a:p>
            <a:pPr algn="l"/>
            <a:r>
              <a:rPr b="1" i="0" sz="1600">
                <a:solidFill>
                  <a:srgbClr val="FFFFFF"/>
                </a:solidFill>
                <a:latin typeface="Calibri"/>
              </a:rPr>
              <a:t>Species Tree
(ASTRAL / aster)</a:t>
            </a:r>
          </a:p>
        </p:txBody>
      </p:sp>
      <p:sp>
        <p:nvSpPr>
          <p:cNvPr id="20" name="TextBox 19"/>
          <p:cNvSpPr txBox="1"/>
          <p:nvPr/>
        </p:nvSpPr>
        <p:spPr>
          <a:xfrm>
            <a:off x="8394192" y="2542032"/>
            <a:ext cx="3520440" cy="3931920"/>
          </a:xfrm>
          <a:prstGeom prst="rect">
            <a:avLst/>
          </a:prstGeom>
          <a:noFill/>
        </p:spPr>
        <p:txBody>
          <a:bodyPr wrap="square" rIns="45720">
            <a:spAutoFit/>
          </a:bodyPr>
          <a:lstStyle/>
          <a:p>
            <a:pPr>
              <a:spcAft>
                <a:spcPts val="300"/>
              </a:spcAft>
              <a:buChar char="▸"/>
            </a:pPr>
            <a:r>
              <a:rPr sz="1100" b="0" i="0">
                <a:solidFill>
                  <a:srgbClr val="D5EAF8"/>
                </a:solidFill>
                <a:latin typeface="Calibri"/>
              </a:rPr>
              <a:t>Run after Phase 2a RAxML trees are ready</a:t>
            </a:r>
          </a:p>
          <a:p>
            <a:pPr>
              <a:spcAft>
                <a:spcPts val="300"/>
              </a:spcAft>
              <a:buChar char="▸"/>
            </a:pPr>
            <a:r>
              <a:rPr sz="1100" b="0" i="0">
                <a:solidFill>
                  <a:srgbClr val="D5EAF8"/>
                </a:solidFill>
                <a:latin typeface="Calibri"/>
              </a:rPr>
              <a:t>Multi-species coalescent (MSC) model</a:t>
            </a:r>
          </a:p>
          <a:p>
            <a:pPr>
              <a:spcAft>
                <a:spcPts val="300"/>
              </a:spcAft>
              <a:buChar char="▸"/>
            </a:pPr>
            <a:r>
              <a:rPr sz="1100" b="0" i="0">
                <a:solidFill>
                  <a:srgbClr val="D5EAF8"/>
                </a:solidFill>
                <a:latin typeface="Calibri"/>
              </a:rPr>
              <a:t>Accounts for incomplete lineage sorting (ILS)</a:t>
            </a:r>
          </a:p>
          <a:p>
            <a:pPr>
              <a:spcAft>
                <a:spcPts val="300"/>
              </a:spcAft>
              <a:buChar char="▸"/>
            </a:pPr>
            <a:r>
              <a:rPr sz="1100" b="0" i="0">
                <a:solidFill>
                  <a:srgbClr val="D5EAF8"/>
                </a:solidFill>
                <a:latin typeface="Calibri"/>
              </a:rPr>
              <a:t>Combines all 8 gene trees simultaneously</a:t>
            </a:r>
          </a:p>
          <a:p>
            <a:pPr>
              <a:spcAft>
                <a:spcPts val="300"/>
              </a:spcAft>
              <a:buChar char="▸"/>
            </a:pPr>
            <a:r>
              <a:rPr sz="1100" b="0" i="0">
                <a:solidFill>
                  <a:srgbClr val="D5EAF8"/>
                </a:solidFill>
                <a:latin typeface="Calibri"/>
              </a:rPr>
              <a:t>Input: OG*.raxml.bestTree (unrooted, no labels)</a:t>
            </a:r>
          </a:p>
          <a:p>
            <a:pPr>
              <a:spcAft>
                <a:spcPts val="300"/>
              </a:spcAft>
              <a:buChar char="▸"/>
            </a:pPr>
            <a:r>
              <a:rPr sz="1100" b="0" i="0">
                <a:solidFill>
                  <a:srgbClr val="D5EAF8"/>
                </a:solidFill>
                <a:latin typeface="Calibri"/>
              </a:rPr>
              <a:t>Output: results/astral/astral_species_tree.tre</a:t>
            </a:r>
          </a:p>
          <a:p>
            <a:pPr>
              <a:spcAft>
                <a:spcPts val="300"/>
              </a:spcAft>
              <a:buChar char="▸"/>
            </a:pPr>
            <a:r>
              <a:rPr sz="1100" b="0" i="0">
                <a:solidFill>
                  <a:srgbClr val="D5EAF8"/>
                </a:solidFill>
                <a:latin typeface="Calibri"/>
              </a:rPr>
              <a:t>Complement to per-gene Bayesian trees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4864"/>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515600" cy="731520"/>
          </a:xfrm>
          <a:prstGeom prst="rect">
            <a:avLst/>
          </a:prstGeom>
          <a:noFill/>
        </p:spPr>
        <p:txBody>
          <a:bodyPr wrap="square" lIns="45720" rIns="45720">
            <a:spAutoFit/>
          </a:bodyPr>
          <a:lstStyle/>
          <a:p>
            <a:pPr algn="l"/>
            <a:r>
              <a:rPr b="1" i="0" sz="2800">
                <a:solidFill>
                  <a:srgbClr val="FFFFFF"/>
                </a:solidFill>
                <a:latin typeface="Calibri"/>
              </a:rPr>
              <a:t>BEAST2 Configuration &amp; MRCA Calibration</a:t>
            </a:r>
          </a:p>
        </p:txBody>
      </p:sp>
      <p:sp>
        <p:nvSpPr>
          <p:cNvPr id="5" name="TextBox 4"/>
          <p:cNvSpPr txBox="1"/>
          <p:nvPr/>
        </p:nvSpPr>
        <p:spPr>
          <a:xfrm>
            <a:off x="365760" y="713232"/>
            <a:ext cx="8229600" cy="320040"/>
          </a:xfrm>
          <a:prstGeom prst="rect">
            <a:avLst/>
          </a:prstGeom>
          <a:noFill/>
        </p:spPr>
        <p:txBody>
          <a:bodyPr wrap="square" lIns="45720" tIns="0" rIns="45720">
            <a:spAutoFit/>
          </a:bodyPr>
          <a:lstStyle/>
          <a:p>
            <a:pPr algn="l"/>
            <a:r>
              <a:rPr b="0" i="1" sz="1300">
                <a:solidFill>
                  <a:srgbClr val="D6EAF8"/>
                </a:solidFill>
                <a:latin typeface="Calibri"/>
              </a:rPr>
              <a:t>Bayesian inference settings · time calibration priors</a:t>
            </a:r>
          </a:p>
        </p:txBody>
      </p:sp>
      <p:sp>
        <p:nvSpPr>
          <p:cNvPr id="6" name="Rectangle 5"/>
          <p:cNvSpPr/>
          <p:nvPr/>
        </p:nvSpPr>
        <p:spPr>
          <a:xfrm>
            <a:off x="365760" y="1234440"/>
            <a:ext cx="5349240" cy="534924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25880"/>
            <a:ext cx="5029200" cy="384048"/>
          </a:xfrm>
          <a:prstGeom prst="rect">
            <a:avLst/>
          </a:prstGeom>
          <a:noFill/>
        </p:spPr>
        <p:txBody>
          <a:bodyPr wrap="square" lIns="45720" tIns="0" rIns="45720">
            <a:spAutoFit/>
          </a:bodyPr>
          <a:lstStyle/>
          <a:p>
            <a:pPr algn="l"/>
            <a:r>
              <a:rPr b="1" i="0" sz="1400">
                <a:solidFill>
                  <a:srgbClr val="144A7B"/>
                </a:solidFill>
                <a:latin typeface="Calibri"/>
              </a:rPr>
              <a:t>BEAST2 Key Settings</a:t>
            </a:r>
          </a:p>
        </p:txBody>
      </p:sp>
      <p:sp>
        <p:nvSpPr>
          <p:cNvPr id="8" name="Rectangle 7"/>
          <p:cNvSpPr/>
          <p:nvPr/>
        </p:nvSpPr>
        <p:spPr>
          <a:xfrm>
            <a:off x="365760" y="1801368"/>
            <a:ext cx="5349240" cy="6583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1856231"/>
            <a:ext cx="1508760" cy="274320"/>
          </a:xfrm>
          <a:prstGeom prst="rect">
            <a:avLst/>
          </a:prstGeom>
          <a:noFill/>
        </p:spPr>
        <p:txBody>
          <a:bodyPr wrap="square" lIns="45720" tIns="0" rIns="45720">
            <a:spAutoFit/>
          </a:bodyPr>
          <a:lstStyle/>
          <a:p>
            <a:pPr algn="l"/>
            <a:r>
              <a:rPr b="1" i="0" sz="950">
                <a:solidFill>
                  <a:srgbClr val="144A7B"/>
                </a:solidFill>
                <a:latin typeface="Calibri"/>
              </a:rPr>
              <a:t>Clock model</a:t>
            </a:r>
          </a:p>
        </p:txBody>
      </p:sp>
      <p:sp>
        <p:nvSpPr>
          <p:cNvPr id="10" name="TextBox 9"/>
          <p:cNvSpPr txBox="1"/>
          <p:nvPr/>
        </p:nvSpPr>
        <p:spPr>
          <a:xfrm>
            <a:off x="2011680" y="1856231"/>
            <a:ext cx="3566160" cy="274320"/>
          </a:xfrm>
          <a:prstGeom prst="rect">
            <a:avLst/>
          </a:prstGeom>
          <a:noFill/>
        </p:spPr>
        <p:txBody>
          <a:bodyPr wrap="square" lIns="45720" tIns="0" rIns="45720">
            <a:spAutoFit/>
          </a:bodyPr>
          <a:lstStyle/>
          <a:p>
            <a:pPr algn="l"/>
            <a:r>
              <a:rPr b="1" i="0" sz="950">
                <a:solidFill>
                  <a:srgbClr val="0B5E44"/>
                </a:solidFill>
                <a:latin typeface="Calibri"/>
              </a:rPr>
              <a:t>UCRelaxedClockModel</a:t>
            </a:r>
          </a:p>
        </p:txBody>
      </p:sp>
      <p:sp>
        <p:nvSpPr>
          <p:cNvPr id="11" name="TextBox 10"/>
          <p:cNvSpPr txBox="1"/>
          <p:nvPr/>
        </p:nvSpPr>
        <p:spPr>
          <a:xfrm>
            <a:off x="475488" y="2139696"/>
            <a:ext cx="5120640" cy="256032"/>
          </a:xfrm>
          <a:prstGeom prst="rect">
            <a:avLst/>
          </a:prstGeom>
          <a:noFill/>
        </p:spPr>
        <p:txBody>
          <a:bodyPr wrap="square" lIns="45720" tIns="0" rIns="45720">
            <a:spAutoFit/>
          </a:bodyPr>
          <a:lstStyle/>
          <a:p>
            <a:pPr algn="l"/>
            <a:r>
              <a:rPr b="0" i="0" sz="900">
                <a:solidFill>
                  <a:srgbClr val="5D6D7E"/>
                </a:solidFill>
                <a:latin typeface="Calibri"/>
              </a:rPr>
              <a:t>Relaxed lognormal — each branch has its own rate</a:t>
            </a:r>
          </a:p>
        </p:txBody>
      </p:sp>
      <p:sp>
        <p:nvSpPr>
          <p:cNvPr id="12" name="Rectangle 11"/>
          <p:cNvSpPr/>
          <p:nvPr/>
        </p:nvSpPr>
        <p:spPr>
          <a:xfrm>
            <a:off x="365760" y="2478024"/>
            <a:ext cx="5349240" cy="658368"/>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532888"/>
            <a:ext cx="1508760" cy="274320"/>
          </a:xfrm>
          <a:prstGeom prst="rect">
            <a:avLst/>
          </a:prstGeom>
          <a:noFill/>
        </p:spPr>
        <p:txBody>
          <a:bodyPr wrap="square" lIns="45720" tIns="0" rIns="45720">
            <a:spAutoFit/>
          </a:bodyPr>
          <a:lstStyle/>
          <a:p>
            <a:pPr algn="l"/>
            <a:r>
              <a:rPr b="1" i="0" sz="950">
                <a:solidFill>
                  <a:srgbClr val="144A7B"/>
                </a:solidFill>
                <a:latin typeface="Calibri"/>
              </a:rPr>
              <a:t>Tree prior</a:t>
            </a:r>
          </a:p>
        </p:txBody>
      </p:sp>
      <p:sp>
        <p:nvSpPr>
          <p:cNvPr id="14" name="TextBox 13"/>
          <p:cNvSpPr txBox="1"/>
          <p:nvPr/>
        </p:nvSpPr>
        <p:spPr>
          <a:xfrm>
            <a:off x="2011680" y="2532888"/>
            <a:ext cx="3566160" cy="274320"/>
          </a:xfrm>
          <a:prstGeom prst="rect">
            <a:avLst/>
          </a:prstGeom>
          <a:noFill/>
        </p:spPr>
        <p:txBody>
          <a:bodyPr wrap="square" lIns="45720" tIns="0" rIns="45720">
            <a:spAutoFit/>
          </a:bodyPr>
          <a:lstStyle/>
          <a:p>
            <a:pPr algn="l"/>
            <a:r>
              <a:rPr b="1" i="0" sz="950">
                <a:solidFill>
                  <a:srgbClr val="0B5E44"/>
                </a:solidFill>
                <a:latin typeface="Calibri"/>
              </a:rPr>
              <a:t>BirthDeathGernhard08Model</a:t>
            </a:r>
          </a:p>
        </p:txBody>
      </p:sp>
      <p:sp>
        <p:nvSpPr>
          <p:cNvPr id="15" name="TextBox 14"/>
          <p:cNvSpPr txBox="1"/>
          <p:nvPr/>
        </p:nvSpPr>
        <p:spPr>
          <a:xfrm>
            <a:off x="475488" y="2816352"/>
            <a:ext cx="5120640" cy="256032"/>
          </a:xfrm>
          <a:prstGeom prst="rect">
            <a:avLst/>
          </a:prstGeom>
          <a:noFill/>
        </p:spPr>
        <p:txBody>
          <a:bodyPr wrap="square" lIns="45720" tIns="0" rIns="45720">
            <a:spAutoFit/>
          </a:bodyPr>
          <a:lstStyle/>
          <a:p>
            <a:pPr algn="l"/>
            <a:r>
              <a:rPr b="0" i="0" sz="900">
                <a:solidFill>
                  <a:srgbClr val="5D6D7E"/>
                </a:solidFill>
                <a:latin typeface="Calibri"/>
              </a:rPr>
              <a:t>Models speciation AND extinction (more realistic than Yule)</a:t>
            </a:r>
          </a:p>
        </p:txBody>
      </p:sp>
      <p:sp>
        <p:nvSpPr>
          <p:cNvPr id="16" name="Rectangle 15"/>
          <p:cNvSpPr/>
          <p:nvPr/>
        </p:nvSpPr>
        <p:spPr>
          <a:xfrm>
            <a:off x="365760" y="3154680"/>
            <a:ext cx="5349240" cy="6583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 y="3209544"/>
            <a:ext cx="1508760" cy="274320"/>
          </a:xfrm>
          <a:prstGeom prst="rect">
            <a:avLst/>
          </a:prstGeom>
          <a:noFill/>
        </p:spPr>
        <p:txBody>
          <a:bodyPr wrap="square" lIns="45720" tIns="0" rIns="45720">
            <a:spAutoFit/>
          </a:bodyPr>
          <a:lstStyle/>
          <a:p>
            <a:pPr algn="l"/>
            <a:r>
              <a:rPr b="1" i="0" sz="950">
                <a:solidFill>
                  <a:srgbClr val="144A7B"/>
                </a:solidFill>
                <a:latin typeface="Calibri"/>
              </a:rPr>
              <a:t>Chain length</a:t>
            </a:r>
          </a:p>
        </p:txBody>
      </p:sp>
      <p:sp>
        <p:nvSpPr>
          <p:cNvPr id="18" name="TextBox 17"/>
          <p:cNvSpPr txBox="1"/>
          <p:nvPr/>
        </p:nvSpPr>
        <p:spPr>
          <a:xfrm>
            <a:off x="2011680" y="3209544"/>
            <a:ext cx="3566160" cy="274320"/>
          </a:xfrm>
          <a:prstGeom prst="rect">
            <a:avLst/>
          </a:prstGeom>
          <a:noFill/>
        </p:spPr>
        <p:txBody>
          <a:bodyPr wrap="square" lIns="45720" tIns="0" rIns="45720">
            <a:spAutoFit/>
          </a:bodyPr>
          <a:lstStyle/>
          <a:p>
            <a:pPr algn="l"/>
            <a:r>
              <a:rPr b="1" i="0" sz="950">
                <a:solidFill>
                  <a:srgbClr val="0B5E44"/>
                </a:solidFill>
                <a:latin typeface="Calibri"/>
              </a:rPr>
              <a:t>50,000,000 steps</a:t>
            </a:r>
          </a:p>
        </p:txBody>
      </p:sp>
      <p:sp>
        <p:nvSpPr>
          <p:cNvPr id="19" name="TextBox 18"/>
          <p:cNvSpPr txBox="1"/>
          <p:nvPr/>
        </p:nvSpPr>
        <p:spPr>
          <a:xfrm>
            <a:off x="475488" y="3493008"/>
            <a:ext cx="5120640" cy="256032"/>
          </a:xfrm>
          <a:prstGeom prst="rect">
            <a:avLst/>
          </a:prstGeom>
          <a:noFill/>
        </p:spPr>
        <p:txBody>
          <a:bodyPr wrap="square" lIns="45720" tIns="0" rIns="45720">
            <a:spAutoFit/>
          </a:bodyPr>
          <a:lstStyle/>
          <a:p>
            <a:pPr algn="l"/>
            <a:r>
              <a:rPr b="0" i="0" sz="900">
                <a:solidFill>
                  <a:srgbClr val="5D6D7E"/>
                </a:solidFill>
                <a:latin typeface="Calibri"/>
              </a:rPr>
              <a:t>Ensures thorough posterior exploration</a:t>
            </a:r>
          </a:p>
        </p:txBody>
      </p:sp>
      <p:sp>
        <p:nvSpPr>
          <p:cNvPr id="20" name="Rectangle 19"/>
          <p:cNvSpPr/>
          <p:nvPr/>
        </p:nvSpPr>
        <p:spPr>
          <a:xfrm>
            <a:off x="365760" y="3831335"/>
            <a:ext cx="5349240" cy="658368"/>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 y="3886199"/>
            <a:ext cx="1508760" cy="274320"/>
          </a:xfrm>
          <a:prstGeom prst="rect">
            <a:avLst/>
          </a:prstGeom>
          <a:noFill/>
        </p:spPr>
        <p:txBody>
          <a:bodyPr wrap="square" lIns="45720" tIns="0" rIns="45720">
            <a:spAutoFit/>
          </a:bodyPr>
          <a:lstStyle/>
          <a:p>
            <a:pPr algn="l"/>
            <a:r>
              <a:rPr b="1" i="0" sz="950">
                <a:solidFill>
                  <a:srgbClr val="144A7B"/>
                </a:solidFill>
                <a:latin typeface="Calibri"/>
              </a:rPr>
              <a:t>Log frequency</a:t>
            </a:r>
          </a:p>
        </p:txBody>
      </p:sp>
      <p:sp>
        <p:nvSpPr>
          <p:cNvPr id="22" name="TextBox 21"/>
          <p:cNvSpPr txBox="1"/>
          <p:nvPr/>
        </p:nvSpPr>
        <p:spPr>
          <a:xfrm>
            <a:off x="2011680" y="3886199"/>
            <a:ext cx="3566160" cy="274320"/>
          </a:xfrm>
          <a:prstGeom prst="rect">
            <a:avLst/>
          </a:prstGeom>
          <a:noFill/>
        </p:spPr>
        <p:txBody>
          <a:bodyPr wrap="square" lIns="45720" tIns="0" rIns="45720">
            <a:spAutoFit/>
          </a:bodyPr>
          <a:lstStyle/>
          <a:p>
            <a:pPr algn="l"/>
            <a:r>
              <a:rPr b="1" i="0" sz="950">
                <a:solidFill>
                  <a:srgbClr val="0B5E44"/>
                </a:solidFill>
                <a:latin typeface="Calibri"/>
              </a:rPr>
              <a:t>Every 5,000 steps</a:t>
            </a:r>
          </a:p>
        </p:txBody>
      </p:sp>
      <p:sp>
        <p:nvSpPr>
          <p:cNvPr id="23" name="TextBox 22"/>
          <p:cNvSpPr txBox="1"/>
          <p:nvPr/>
        </p:nvSpPr>
        <p:spPr>
          <a:xfrm>
            <a:off x="475488" y="4169663"/>
            <a:ext cx="5120640" cy="256032"/>
          </a:xfrm>
          <a:prstGeom prst="rect">
            <a:avLst/>
          </a:prstGeom>
          <a:noFill/>
        </p:spPr>
        <p:txBody>
          <a:bodyPr wrap="square" lIns="45720" tIns="0" rIns="45720">
            <a:spAutoFit/>
          </a:bodyPr>
          <a:lstStyle/>
          <a:p>
            <a:pPr algn="l"/>
            <a:r>
              <a:rPr b="0" i="0" sz="900">
                <a:solidFill>
                  <a:srgbClr val="5D6D7E"/>
                </a:solidFill>
                <a:latin typeface="Calibri"/>
              </a:rPr>
              <a:t>→ 10,000 samples in .log trace file</a:t>
            </a:r>
          </a:p>
        </p:txBody>
      </p:sp>
      <p:sp>
        <p:nvSpPr>
          <p:cNvPr id="24" name="Rectangle 23"/>
          <p:cNvSpPr/>
          <p:nvPr/>
        </p:nvSpPr>
        <p:spPr>
          <a:xfrm>
            <a:off x="365760" y="4507992"/>
            <a:ext cx="5349240" cy="6583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4562855"/>
            <a:ext cx="1508760" cy="274320"/>
          </a:xfrm>
          <a:prstGeom prst="rect">
            <a:avLst/>
          </a:prstGeom>
          <a:noFill/>
        </p:spPr>
        <p:txBody>
          <a:bodyPr wrap="square" lIns="45720" tIns="0" rIns="45720">
            <a:spAutoFit/>
          </a:bodyPr>
          <a:lstStyle/>
          <a:p>
            <a:pPr algn="l"/>
            <a:r>
              <a:rPr b="1" i="0" sz="950">
                <a:solidFill>
                  <a:srgbClr val="144A7B"/>
                </a:solidFill>
                <a:latin typeface="Calibri"/>
              </a:rPr>
              <a:t>Burnin</a:t>
            </a:r>
          </a:p>
        </p:txBody>
      </p:sp>
      <p:sp>
        <p:nvSpPr>
          <p:cNvPr id="26" name="TextBox 25"/>
          <p:cNvSpPr txBox="1"/>
          <p:nvPr/>
        </p:nvSpPr>
        <p:spPr>
          <a:xfrm>
            <a:off x="2011680" y="4562855"/>
            <a:ext cx="3566160" cy="274320"/>
          </a:xfrm>
          <a:prstGeom prst="rect">
            <a:avLst/>
          </a:prstGeom>
          <a:noFill/>
        </p:spPr>
        <p:txBody>
          <a:bodyPr wrap="square" lIns="45720" tIns="0" rIns="45720">
            <a:spAutoFit/>
          </a:bodyPr>
          <a:lstStyle/>
          <a:p>
            <a:pPr algn="l"/>
            <a:r>
              <a:rPr b="1" i="0" sz="950">
                <a:solidFill>
                  <a:srgbClr val="0B5E44"/>
                </a:solidFill>
                <a:latin typeface="Calibri"/>
              </a:rPr>
              <a:t>10% discarded by TreeAnnotator</a:t>
            </a:r>
          </a:p>
        </p:txBody>
      </p:sp>
      <p:sp>
        <p:nvSpPr>
          <p:cNvPr id="27" name="TextBox 26"/>
          <p:cNvSpPr txBox="1"/>
          <p:nvPr/>
        </p:nvSpPr>
        <p:spPr>
          <a:xfrm>
            <a:off x="475488" y="4846320"/>
            <a:ext cx="5120640" cy="256032"/>
          </a:xfrm>
          <a:prstGeom prst="rect">
            <a:avLst/>
          </a:prstGeom>
          <a:noFill/>
        </p:spPr>
        <p:txBody>
          <a:bodyPr wrap="square" lIns="45720" tIns="0" rIns="45720">
            <a:spAutoFit/>
          </a:bodyPr>
          <a:lstStyle/>
          <a:p>
            <a:pPr algn="l"/>
            <a:r>
              <a:rPr b="0" i="0" sz="900">
                <a:solidFill>
                  <a:srgbClr val="5D6D7E"/>
                </a:solidFill>
                <a:latin typeface="Calibri"/>
              </a:rPr>
              <a:t>First 5M steps removed before summarizing</a:t>
            </a:r>
          </a:p>
        </p:txBody>
      </p:sp>
      <p:sp>
        <p:nvSpPr>
          <p:cNvPr id="28" name="Rectangle 27"/>
          <p:cNvSpPr/>
          <p:nvPr/>
        </p:nvSpPr>
        <p:spPr>
          <a:xfrm>
            <a:off x="365760" y="5184648"/>
            <a:ext cx="5349240" cy="658368"/>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5488" y="5239512"/>
            <a:ext cx="1508760" cy="274320"/>
          </a:xfrm>
          <a:prstGeom prst="rect">
            <a:avLst/>
          </a:prstGeom>
          <a:noFill/>
        </p:spPr>
        <p:txBody>
          <a:bodyPr wrap="square" lIns="45720" tIns="0" rIns="45720">
            <a:spAutoFit/>
          </a:bodyPr>
          <a:lstStyle/>
          <a:p>
            <a:pPr algn="l"/>
            <a:r>
              <a:rPr b="1" i="0" sz="950">
                <a:solidFill>
                  <a:srgbClr val="144A7B"/>
                </a:solidFill>
                <a:latin typeface="Calibri"/>
              </a:rPr>
              <a:t>ESS threshold</a:t>
            </a:r>
          </a:p>
        </p:txBody>
      </p:sp>
      <p:sp>
        <p:nvSpPr>
          <p:cNvPr id="30" name="TextBox 29"/>
          <p:cNvSpPr txBox="1"/>
          <p:nvPr/>
        </p:nvSpPr>
        <p:spPr>
          <a:xfrm>
            <a:off x="2011680" y="5239512"/>
            <a:ext cx="3566160" cy="274320"/>
          </a:xfrm>
          <a:prstGeom prst="rect">
            <a:avLst/>
          </a:prstGeom>
          <a:noFill/>
        </p:spPr>
        <p:txBody>
          <a:bodyPr wrap="square" lIns="45720" tIns="0" rIns="45720">
            <a:spAutoFit/>
          </a:bodyPr>
          <a:lstStyle/>
          <a:p>
            <a:pPr algn="l"/>
            <a:r>
              <a:rPr b="1" i="0" sz="950">
                <a:solidFill>
                  <a:srgbClr val="0B5E44"/>
                </a:solidFill>
                <a:latin typeface="Calibri"/>
              </a:rPr>
              <a:t>&gt; 200 required  (&gt; 500 ideal)</a:t>
            </a:r>
          </a:p>
        </p:txBody>
      </p:sp>
      <p:sp>
        <p:nvSpPr>
          <p:cNvPr id="31" name="TextBox 30"/>
          <p:cNvSpPr txBox="1"/>
          <p:nvPr/>
        </p:nvSpPr>
        <p:spPr>
          <a:xfrm>
            <a:off x="475488" y="5522976"/>
            <a:ext cx="5120640" cy="256032"/>
          </a:xfrm>
          <a:prstGeom prst="rect">
            <a:avLst/>
          </a:prstGeom>
          <a:noFill/>
        </p:spPr>
        <p:txBody>
          <a:bodyPr wrap="square" lIns="45720" tIns="0" rIns="45720">
            <a:spAutoFit/>
          </a:bodyPr>
          <a:lstStyle/>
          <a:p>
            <a:pPr algn="l"/>
            <a:r>
              <a:rPr b="0" i="0" sz="900">
                <a:solidFill>
                  <a:srgbClr val="5D6D7E"/>
                </a:solidFill>
                <a:latin typeface="Calibri"/>
              </a:rPr>
              <a:t>Check all parameters in Tracer before using trees</a:t>
            </a:r>
          </a:p>
        </p:txBody>
      </p:sp>
      <p:sp>
        <p:nvSpPr>
          <p:cNvPr id="32" name="Rectangle 31"/>
          <p:cNvSpPr/>
          <p:nvPr/>
        </p:nvSpPr>
        <p:spPr>
          <a:xfrm>
            <a:off x="365760" y="5861303"/>
            <a:ext cx="5349240" cy="6583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8" y="5916167"/>
            <a:ext cx="1508760" cy="274320"/>
          </a:xfrm>
          <a:prstGeom prst="rect">
            <a:avLst/>
          </a:prstGeom>
          <a:noFill/>
        </p:spPr>
        <p:txBody>
          <a:bodyPr wrap="square" lIns="45720" tIns="0" rIns="45720">
            <a:spAutoFit/>
          </a:bodyPr>
          <a:lstStyle/>
          <a:p>
            <a:pPr algn="l"/>
            <a:r>
              <a:rPr b="1" i="0" sz="950">
                <a:solidFill>
                  <a:srgbClr val="144A7B"/>
                </a:solidFill>
                <a:latin typeface="Calibri"/>
              </a:rPr>
              <a:t>Starting tree</a:t>
            </a:r>
          </a:p>
        </p:txBody>
      </p:sp>
      <p:sp>
        <p:nvSpPr>
          <p:cNvPr id="34" name="TextBox 33"/>
          <p:cNvSpPr txBox="1"/>
          <p:nvPr/>
        </p:nvSpPr>
        <p:spPr>
          <a:xfrm>
            <a:off x="2011680" y="5916167"/>
            <a:ext cx="3566160" cy="274320"/>
          </a:xfrm>
          <a:prstGeom prst="rect">
            <a:avLst/>
          </a:prstGeom>
          <a:noFill/>
        </p:spPr>
        <p:txBody>
          <a:bodyPr wrap="square" lIns="45720" tIns="0" rIns="45720">
            <a:spAutoFit/>
          </a:bodyPr>
          <a:lstStyle/>
          <a:p>
            <a:pPr algn="l"/>
            <a:r>
              <a:rPr b="1" i="0" sz="950">
                <a:solidFill>
                  <a:srgbClr val="0B5E44"/>
                </a:solidFill>
                <a:latin typeface="Calibri"/>
              </a:rPr>
              <a:t>IQ-TREE treefile (via TreeParser)</a:t>
            </a:r>
          </a:p>
        </p:txBody>
      </p:sp>
      <p:sp>
        <p:nvSpPr>
          <p:cNvPr id="35" name="TextBox 34"/>
          <p:cNvSpPr txBox="1"/>
          <p:nvPr/>
        </p:nvSpPr>
        <p:spPr>
          <a:xfrm>
            <a:off x="475488" y="6199631"/>
            <a:ext cx="5120640" cy="256032"/>
          </a:xfrm>
          <a:prstGeom prst="rect">
            <a:avLst/>
          </a:prstGeom>
          <a:noFill/>
        </p:spPr>
        <p:txBody>
          <a:bodyPr wrap="square" lIns="45720" tIns="0" rIns="45720">
            <a:spAutoFit/>
          </a:bodyPr>
          <a:lstStyle/>
          <a:p>
            <a:pPr algn="l"/>
            <a:r>
              <a:rPr b="0" i="0" sz="900">
                <a:solidFill>
                  <a:srgbClr val="5D6D7E"/>
                </a:solidFill>
                <a:latin typeface="Calibri"/>
              </a:rPr>
              <a:t>Falls back to RandomTree + ConstantPopulation if absent</a:t>
            </a:r>
          </a:p>
        </p:txBody>
      </p:sp>
      <p:sp>
        <p:nvSpPr>
          <p:cNvPr id="36" name="Rectangle 35"/>
          <p:cNvSpPr/>
          <p:nvPr/>
        </p:nvSpPr>
        <p:spPr>
          <a:xfrm>
            <a:off x="5989320" y="1234440"/>
            <a:ext cx="5806440" cy="5349240"/>
          </a:xfrm>
          <a:prstGeom prst="rect">
            <a:avLst/>
          </a:prstGeom>
          <a:solidFill>
            <a:srgbClr val="F4EC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26480" y="1325880"/>
            <a:ext cx="5486400" cy="384048"/>
          </a:xfrm>
          <a:prstGeom prst="rect">
            <a:avLst/>
          </a:prstGeom>
          <a:noFill/>
        </p:spPr>
        <p:txBody>
          <a:bodyPr wrap="square" lIns="45720" tIns="0" rIns="45720">
            <a:spAutoFit/>
          </a:bodyPr>
          <a:lstStyle/>
          <a:p>
            <a:pPr algn="l"/>
            <a:r>
              <a:rPr b="1" i="0" sz="1400">
                <a:solidFill>
                  <a:srgbClr val="6B278C"/>
                </a:solidFill>
                <a:latin typeface="Calibri"/>
              </a:rPr>
              <a:t>MRCA Calibration Priors</a:t>
            </a:r>
          </a:p>
        </p:txBody>
      </p:sp>
      <p:sp>
        <p:nvSpPr>
          <p:cNvPr id="38" name="TextBox 37"/>
          <p:cNvSpPr txBox="1"/>
          <p:nvPr/>
        </p:nvSpPr>
        <p:spPr>
          <a:xfrm>
            <a:off x="6126480" y="1691640"/>
            <a:ext cx="5486400" cy="274320"/>
          </a:xfrm>
          <a:prstGeom prst="rect">
            <a:avLst/>
          </a:prstGeom>
          <a:noFill/>
        </p:spPr>
        <p:txBody>
          <a:bodyPr wrap="square" lIns="45720" tIns="0" rIns="45720">
            <a:spAutoFit/>
          </a:bodyPr>
          <a:lstStyle/>
          <a:p>
            <a:pPr algn="l"/>
            <a:r>
              <a:rPr b="0" i="1" sz="1000">
                <a:solidFill>
                  <a:srgbClr val="5D6D7E"/>
                </a:solidFill>
                <a:latin typeface="Calibri"/>
              </a:rPr>
              <a:t>Source: Shen et al. 2018 · MCMCTree Table S2</a:t>
            </a:r>
          </a:p>
        </p:txBody>
      </p:sp>
      <p:sp>
        <p:nvSpPr>
          <p:cNvPr id="39" name="Rectangle 38"/>
          <p:cNvSpPr/>
          <p:nvPr/>
        </p:nvSpPr>
        <p:spPr>
          <a:xfrm>
            <a:off x="5989320" y="2084831"/>
            <a:ext cx="5806440" cy="1353312"/>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989320" y="2505456"/>
            <a:ext cx="5806440" cy="932688"/>
          </a:xfrm>
          <a:prstGeom prst="rect">
            <a:avLst/>
          </a:prstGeom>
          <a:solidFill>
            <a:srgbClr val="F4EC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08192" y="2148839"/>
            <a:ext cx="1828800" cy="320040"/>
          </a:xfrm>
          <a:prstGeom prst="rect">
            <a:avLst/>
          </a:prstGeom>
          <a:noFill/>
        </p:spPr>
        <p:txBody>
          <a:bodyPr wrap="square" lIns="45720" tIns="0" rIns="45720">
            <a:spAutoFit/>
          </a:bodyPr>
          <a:lstStyle/>
          <a:p>
            <a:pPr algn="l"/>
            <a:r>
              <a:rPr b="1" i="0" sz="1100">
                <a:solidFill>
                  <a:srgbClr val="FFFFFF"/>
                </a:solidFill>
                <a:latin typeface="Calibri"/>
              </a:rPr>
              <a:t>Anchor: Deep</a:t>
            </a:r>
          </a:p>
        </p:txBody>
      </p:sp>
      <p:sp>
        <p:nvSpPr>
          <p:cNvPr id="42" name="TextBox 41"/>
          <p:cNvSpPr txBox="1"/>
          <p:nvPr/>
        </p:nvSpPr>
        <p:spPr>
          <a:xfrm>
            <a:off x="6108192" y="2148839"/>
            <a:ext cx="5577840" cy="320040"/>
          </a:xfrm>
          <a:prstGeom prst="rect">
            <a:avLst/>
          </a:prstGeom>
          <a:noFill/>
        </p:spPr>
        <p:txBody>
          <a:bodyPr wrap="square" lIns="0" tIns="0" rIns="45720">
            <a:spAutoFit/>
          </a:bodyPr>
          <a:lstStyle/>
          <a:p>
            <a:pPr algn="r"/>
            <a:r>
              <a:rPr b="1" i="0" sz="1300">
                <a:solidFill>
                  <a:srgbClr val="FFFFFF"/>
                </a:solidFill>
                <a:latin typeface="Calibri"/>
              </a:rPr>
              <a:t>Mean: 224.70 Ma</a:t>
            </a:r>
          </a:p>
        </p:txBody>
      </p:sp>
      <p:sp>
        <p:nvSpPr>
          <p:cNvPr id="43" name="TextBox 42"/>
          <p:cNvSpPr txBox="1"/>
          <p:nvPr/>
        </p:nvSpPr>
        <p:spPr>
          <a:xfrm>
            <a:off x="6108192" y="2560320"/>
            <a:ext cx="5577840" cy="256032"/>
          </a:xfrm>
          <a:prstGeom prst="rect">
            <a:avLst/>
          </a:prstGeom>
          <a:noFill/>
        </p:spPr>
        <p:txBody>
          <a:bodyPr wrap="square" lIns="45720" tIns="0" rIns="45720">
            <a:spAutoFit/>
          </a:bodyPr>
          <a:lstStyle/>
          <a:p>
            <a:pPr algn="l"/>
            <a:r>
              <a:rPr b="1" i="0" sz="1000">
                <a:solidFill>
                  <a:srgbClr val="144A7B"/>
                </a:solidFill>
                <a:latin typeface="Calibri"/>
              </a:rPr>
              <a:t>Bounds: 190.09 – 265.39 Ma</a:t>
            </a:r>
          </a:p>
        </p:txBody>
      </p:sp>
      <p:sp>
        <p:nvSpPr>
          <p:cNvPr id="44" name="TextBox 43"/>
          <p:cNvSpPr txBox="1"/>
          <p:nvPr/>
        </p:nvSpPr>
        <p:spPr>
          <a:xfrm>
            <a:off x="6108192" y="2816352"/>
            <a:ext cx="5577840" cy="566928"/>
          </a:xfrm>
          <a:prstGeom prst="rect">
            <a:avLst/>
          </a:prstGeom>
          <a:noFill/>
        </p:spPr>
        <p:txBody>
          <a:bodyPr wrap="square" lIns="45720" tIns="0" rIns="45720">
            <a:spAutoFit/>
          </a:bodyPr>
          <a:lstStyle/>
          <a:p>
            <a:pPr algn="l"/>
            <a:r>
              <a:rPr b="0" i="1" sz="1000">
                <a:solidFill>
                  <a:srgbClr val="1A1A2E"/>
                </a:solidFill>
                <a:latin typeface="Calibri"/>
              </a:rPr>
              <a:t>Babjeviella inositovora
&amp; Pachysolen tannophilus</a:t>
            </a:r>
          </a:p>
        </p:txBody>
      </p:sp>
      <p:sp>
        <p:nvSpPr>
          <p:cNvPr id="45" name="Rectangle 44"/>
          <p:cNvSpPr/>
          <p:nvPr/>
        </p:nvSpPr>
        <p:spPr>
          <a:xfrm>
            <a:off x="5989320" y="3547872"/>
            <a:ext cx="5806440" cy="1353312"/>
          </a:xfrm>
          <a:prstGeom prst="rect">
            <a:avLst/>
          </a:prstGeom>
          <a:solidFill>
            <a:srgbClr val="7D3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989320" y="3968496"/>
            <a:ext cx="5806440" cy="932688"/>
          </a:xfrm>
          <a:prstGeom prst="rect">
            <a:avLst/>
          </a:prstGeom>
          <a:solidFill>
            <a:srgbClr val="F4EC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08192" y="3611879"/>
            <a:ext cx="1828800" cy="320040"/>
          </a:xfrm>
          <a:prstGeom prst="rect">
            <a:avLst/>
          </a:prstGeom>
          <a:noFill/>
        </p:spPr>
        <p:txBody>
          <a:bodyPr wrap="square" lIns="45720" tIns="0" rIns="45720">
            <a:spAutoFit/>
          </a:bodyPr>
          <a:lstStyle/>
          <a:p>
            <a:pPr algn="l"/>
            <a:r>
              <a:rPr b="1" i="0" sz="1100">
                <a:solidFill>
                  <a:srgbClr val="FFFFFF"/>
                </a:solidFill>
                <a:latin typeface="Calibri"/>
              </a:rPr>
              <a:t>Anchor: Medium</a:t>
            </a:r>
          </a:p>
        </p:txBody>
      </p:sp>
      <p:sp>
        <p:nvSpPr>
          <p:cNvPr id="48" name="TextBox 47"/>
          <p:cNvSpPr txBox="1"/>
          <p:nvPr/>
        </p:nvSpPr>
        <p:spPr>
          <a:xfrm>
            <a:off x="6108192" y="3611879"/>
            <a:ext cx="5577840" cy="320040"/>
          </a:xfrm>
          <a:prstGeom prst="rect">
            <a:avLst/>
          </a:prstGeom>
          <a:noFill/>
        </p:spPr>
        <p:txBody>
          <a:bodyPr wrap="square" lIns="0" tIns="0" rIns="45720">
            <a:spAutoFit/>
          </a:bodyPr>
          <a:lstStyle/>
          <a:p>
            <a:pPr algn="r"/>
            <a:r>
              <a:rPr b="1" i="0" sz="1300">
                <a:solidFill>
                  <a:srgbClr val="FFFFFF"/>
                </a:solidFill>
                <a:latin typeface="Calibri"/>
              </a:rPr>
              <a:t>Mean: 36.90 Ma</a:t>
            </a:r>
          </a:p>
        </p:txBody>
      </p:sp>
      <p:sp>
        <p:nvSpPr>
          <p:cNvPr id="49" name="TextBox 48"/>
          <p:cNvSpPr txBox="1"/>
          <p:nvPr/>
        </p:nvSpPr>
        <p:spPr>
          <a:xfrm>
            <a:off x="6108192" y="4023360"/>
            <a:ext cx="5577840" cy="256032"/>
          </a:xfrm>
          <a:prstGeom prst="rect">
            <a:avLst/>
          </a:prstGeom>
          <a:noFill/>
        </p:spPr>
        <p:txBody>
          <a:bodyPr wrap="square" lIns="45720" tIns="0" rIns="45720">
            <a:spAutoFit/>
          </a:bodyPr>
          <a:lstStyle/>
          <a:p>
            <a:pPr algn="l"/>
            <a:r>
              <a:rPr b="1" i="0" sz="1000">
                <a:solidFill>
                  <a:srgbClr val="7D3C98"/>
                </a:solidFill>
                <a:latin typeface="Calibri"/>
              </a:rPr>
              <a:t>Bounds: 22.98 – 51.96 Ma</a:t>
            </a:r>
          </a:p>
        </p:txBody>
      </p:sp>
      <p:sp>
        <p:nvSpPr>
          <p:cNvPr id="50" name="TextBox 49"/>
          <p:cNvSpPr txBox="1"/>
          <p:nvPr/>
        </p:nvSpPr>
        <p:spPr>
          <a:xfrm>
            <a:off x="6108192" y="4279392"/>
            <a:ext cx="5577840" cy="566928"/>
          </a:xfrm>
          <a:prstGeom prst="rect">
            <a:avLst/>
          </a:prstGeom>
          <a:noFill/>
        </p:spPr>
        <p:txBody>
          <a:bodyPr wrap="square" lIns="45720" tIns="0" rIns="45720">
            <a:spAutoFit/>
          </a:bodyPr>
          <a:lstStyle/>
          <a:p>
            <a:pPr algn="l"/>
            <a:r>
              <a:rPr b="0" i="1" sz="1000">
                <a:solidFill>
                  <a:srgbClr val="1A1A2E"/>
                </a:solidFill>
                <a:latin typeface="Calibri"/>
              </a:rPr>
              <a:t>Zygosaccharomyces rouxii
&amp; Z. kombuchaensis</a:t>
            </a:r>
          </a:p>
        </p:txBody>
      </p:sp>
      <p:sp>
        <p:nvSpPr>
          <p:cNvPr id="51" name="Rectangle 50"/>
          <p:cNvSpPr/>
          <p:nvPr/>
        </p:nvSpPr>
        <p:spPr>
          <a:xfrm>
            <a:off x="5989320" y="5010912"/>
            <a:ext cx="5806440" cy="1353312"/>
          </a:xfrm>
          <a:prstGeom prst="rect">
            <a:avLst/>
          </a:prstGeom>
          <a:solidFill>
            <a:srgbClr val="B74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989320" y="5431536"/>
            <a:ext cx="5806440" cy="932688"/>
          </a:xfrm>
          <a:prstGeom prst="rect">
            <a:avLst/>
          </a:prstGeom>
          <a:solidFill>
            <a:srgbClr val="F4EC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08192" y="5074920"/>
            <a:ext cx="1828800" cy="320040"/>
          </a:xfrm>
          <a:prstGeom prst="rect">
            <a:avLst/>
          </a:prstGeom>
          <a:noFill/>
        </p:spPr>
        <p:txBody>
          <a:bodyPr wrap="square" lIns="45720" tIns="0" rIns="45720">
            <a:spAutoFit/>
          </a:bodyPr>
          <a:lstStyle/>
          <a:p>
            <a:pPr algn="l"/>
            <a:r>
              <a:rPr b="1" i="0" sz="1100">
                <a:solidFill>
                  <a:srgbClr val="FFFFFF"/>
                </a:solidFill>
                <a:latin typeface="Calibri"/>
              </a:rPr>
              <a:t>Anchor: Young</a:t>
            </a:r>
          </a:p>
        </p:txBody>
      </p:sp>
      <p:sp>
        <p:nvSpPr>
          <p:cNvPr id="54" name="TextBox 53"/>
          <p:cNvSpPr txBox="1"/>
          <p:nvPr/>
        </p:nvSpPr>
        <p:spPr>
          <a:xfrm>
            <a:off x="6108192" y="5074920"/>
            <a:ext cx="5577840" cy="320040"/>
          </a:xfrm>
          <a:prstGeom prst="rect">
            <a:avLst/>
          </a:prstGeom>
          <a:noFill/>
        </p:spPr>
        <p:txBody>
          <a:bodyPr wrap="square" lIns="0" tIns="0" rIns="45720">
            <a:spAutoFit/>
          </a:bodyPr>
          <a:lstStyle/>
          <a:p>
            <a:pPr algn="r"/>
            <a:r>
              <a:rPr b="1" i="0" sz="1300">
                <a:solidFill>
                  <a:srgbClr val="FFFFFF"/>
                </a:solidFill>
                <a:latin typeface="Calibri"/>
              </a:rPr>
              <a:t>Mean: 17.27 Ma</a:t>
            </a:r>
          </a:p>
        </p:txBody>
      </p:sp>
      <p:sp>
        <p:nvSpPr>
          <p:cNvPr id="55" name="TextBox 54"/>
          <p:cNvSpPr txBox="1"/>
          <p:nvPr/>
        </p:nvSpPr>
        <p:spPr>
          <a:xfrm>
            <a:off x="6108192" y="5486400"/>
            <a:ext cx="5577840" cy="256032"/>
          </a:xfrm>
          <a:prstGeom prst="rect">
            <a:avLst/>
          </a:prstGeom>
          <a:noFill/>
        </p:spPr>
        <p:txBody>
          <a:bodyPr wrap="square" lIns="45720" tIns="0" rIns="45720">
            <a:spAutoFit/>
          </a:bodyPr>
          <a:lstStyle/>
          <a:p>
            <a:pPr algn="l"/>
            <a:r>
              <a:rPr b="1" i="0" sz="1000">
                <a:solidFill>
                  <a:srgbClr val="B7450B"/>
                </a:solidFill>
                <a:latin typeface="Calibri"/>
              </a:rPr>
              <a:t>Bounds: 12.36 – 23.83 Ma</a:t>
            </a:r>
          </a:p>
        </p:txBody>
      </p:sp>
      <p:sp>
        <p:nvSpPr>
          <p:cNvPr id="56" name="TextBox 55"/>
          <p:cNvSpPr txBox="1"/>
          <p:nvPr/>
        </p:nvSpPr>
        <p:spPr>
          <a:xfrm>
            <a:off x="6108192" y="5742432"/>
            <a:ext cx="5577840" cy="566928"/>
          </a:xfrm>
          <a:prstGeom prst="rect">
            <a:avLst/>
          </a:prstGeom>
          <a:noFill/>
        </p:spPr>
        <p:txBody>
          <a:bodyPr wrap="square" lIns="45720" tIns="0" rIns="45720">
            <a:spAutoFit/>
          </a:bodyPr>
          <a:lstStyle/>
          <a:p>
            <a:pPr algn="l"/>
            <a:r>
              <a:rPr b="0" i="1" sz="1000">
                <a:solidFill>
                  <a:srgbClr val="1A1A2E"/>
                </a:solidFill>
                <a:latin typeface="Calibri"/>
              </a:rPr>
              <a:t>Kazachstania siamensis
&amp; K. unispora</a:t>
            </a:r>
          </a:p>
        </p:txBody>
      </p:sp>
      <p:sp>
        <p:nvSpPr>
          <p:cNvPr id="57" name="Rectangle 56"/>
          <p:cNvSpPr/>
          <p:nvPr/>
        </p:nvSpPr>
        <p:spPr>
          <a:xfrm>
            <a:off x="5989320" y="6419088"/>
            <a:ext cx="5806440" cy="594360"/>
          </a:xfrm>
          <a:prstGeom prst="rect">
            <a:avLst/>
          </a:prstGeom>
          <a:solidFill>
            <a:srgbClr val="F396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08192" y="6492240"/>
            <a:ext cx="5577840" cy="457200"/>
          </a:xfrm>
          <a:prstGeom prst="rect">
            <a:avLst/>
          </a:prstGeom>
          <a:noFill/>
        </p:spPr>
        <p:txBody>
          <a:bodyPr wrap="square" lIns="45720" tIns="0" rIns="45720">
            <a:spAutoFit/>
          </a:bodyPr>
          <a:lstStyle/>
          <a:p>
            <a:pPr algn="l"/>
            <a:r>
              <a:rPr b="1" i="0" sz="1050">
                <a:solidFill>
                  <a:srgbClr val="FFFFFF"/>
                </a:solidFill>
                <a:latin typeface="Calibri"/>
              </a:rPr>
              <a:t>⚠  Before using trees: load .log files into Tracer · all ESS values must be &gt; 200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4864"/>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515600" cy="731520"/>
          </a:xfrm>
          <a:prstGeom prst="rect">
            <a:avLst/>
          </a:prstGeom>
          <a:noFill/>
        </p:spPr>
        <p:txBody>
          <a:bodyPr wrap="square" lIns="45720" rIns="45720">
            <a:spAutoFit/>
          </a:bodyPr>
          <a:lstStyle/>
          <a:p>
            <a:pPr algn="l"/>
            <a:r>
              <a:rPr b="1" i="0" sz="2800">
                <a:solidFill>
                  <a:srgbClr val="FFFFFF"/>
                </a:solidFill>
                <a:latin typeface="Calibri"/>
              </a:rPr>
              <a:t>Phase 3 — D-statistic Analysis</a:t>
            </a:r>
          </a:p>
        </p:txBody>
      </p:sp>
      <p:sp>
        <p:nvSpPr>
          <p:cNvPr id="5" name="TextBox 4"/>
          <p:cNvSpPr txBox="1"/>
          <p:nvPr/>
        </p:nvSpPr>
        <p:spPr>
          <a:xfrm>
            <a:off x="365760" y="713232"/>
            <a:ext cx="8229600" cy="320040"/>
          </a:xfrm>
          <a:prstGeom prst="rect">
            <a:avLst/>
          </a:prstGeom>
          <a:noFill/>
        </p:spPr>
        <p:txBody>
          <a:bodyPr wrap="square" lIns="45720" tIns="0" rIns="45720">
            <a:spAutoFit/>
          </a:bodyPr>
          <a:lstStyle/>
          <a:p>
            <a:pPr algn="l"/>
            <a:r>
              <a:rPr b="0" i="1" sz="1300">
                <a:solidFill>
                  <a:srgbClr val="D6EAF8"/>
                </a:solidFill>
                <a:latin typeface="Calibri"/>
              </a:rPr>
              <a:t>Phylogenetic signal for mannose growth · Fritz &amp; Purvis (2010) · caper::phylo.d()</a:t>
            </a:r>
          </a:p>
        </p:txBody>
      </p:sp>
      <p:sp>
        <p:nvSpPr>
          <p:cNvPr id="6" name="Rectangle 5"/>
          <p:cNvSpPr/>
          <p:nvPr/>
        </p:nvSpPr>
        <p:spPr>
          <a:xfrm>
            <a:off x="365760" y="1234440"/>
            <a:ext cx="5349240" cy="534924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25880"/>
            <a:ext cx="5029200" cy="384048"/>
          </a:xfrm>
          <a:prstGeom prst="rect">
            <a:avLst/>
          </a:prstGeom>
          <a:noFill/>
        </p:spPr>
        <p:txBody>
          <a:bodyPr wrap="square" lIns="45720" tIns="0" rIns="45720">
            <a:spAutoFit/>
          </a:bodyPr>
          <a:lstStyle/>
          <a:p>
            <a:pPr algn="l"/>
            <a:r>
              <a:rPr b="1" i="0" sz="1400">
                <a:solidFill>
                  <a:srgbClr val="144A7B"/>
                </a:solidFill>
                <a:latin typeface="Calibri"/>
              </a:rPr>
              <a:t>What the D-statistic tells us</a:t>
            </a:r>
          </a:p>
        </p:txBody>
      </p:sp>
      <p:sp>
        <p:nvSpPr>
          <p:cNvPr id="8" name="Rectangle 7"/>
          <p:cNvSpPr/>
          <p:nvPr/>
        </p:nvSpPr>
        <p:spPr>
          <a:xfrm>
            <a:off x="475488" y="1856231"/>
            <a:ext cx="1234440" cy="749808"/>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3776" y="2057400"/>
            <a:ext cx="1188720" cy="365760"/>
          </a:xfrm>
          <a:prstGeom prst="rect">
            <a:avLst/>
          </a:prstGeom>
          <a:noFill/>
        </p:spPr>
        <p:txBody>
          <a:bodyPr wrap="square" lIns="0" tIns="0" rIns="45720">
            <a:spAutoFit/>
          </a:bodyPr>
          <a:lstStyle/>
          <a:p>
            <a:pPr algn="ctr"/>
            <a:r>
              <a:rPr b="1" i="0" sz="1600">
                <a:solidFill>
                  <a:srgbClr val="FFFFFF"/>
                </a:solidFill>
                <a:latin typeface="Calibri"/>
              </a:rPr>
              <a:t>D &lt; 0</a:t>
            </a:r>
          </a:p>
        </p:txBody>
      </p:sp>
      <p:sp>
        <p:nvSpPr>
          <p:cNvPr id="10" name="TextBox 9"/>
          <p:cNvSpPr txBox="1"/>
          <p:nvPr/>
        </p:nvSpPr>
        <p:spPr>
          <a:xfrm>
            <a:off x="1783080" y="1965960"/>
            <a:ext cx="3840480" cy="594360"/>
          </a:xfrm>
          <a:prstGeom prst="rect">
            <a:avLst/>
          </a:prstGeom>
          <a:noFill/>
        </p:spPr>
        <p:txBody>
          <a:bodyPr wrap="square" lIns="45720" tIns="0" rIns="45720">
            <a:spAutoFit/>
          </a:bodyPr>
          <a:lstStyle/>
          <a:p>
            <a:pPr algn="l"/>
            <a:r>
              <a:rPr b="0" i="0" sz="1100">
                <a:solidFill>
                  <a:srgbClr val="1A1A2E"/>
                </a:solidFill>
                <a:latin typeface="Calibri"/>
              </a:rPr>
              <a:t>Highly clustered
(stronger than Brownian motion)</a:t>
            </a:r>
          </a:p>
        </p:txBody>
      </p:sp>
      <p:sp>
        <p:nvSpPr>
          <p:cNvPr id="11" name="Rectangle 10"/>
          <p:cNvSpPr/>
          <p:nvPr/>
        </p:nvSpPr>
        <p:spPr>
          <a:xfrm>
            <a:off x="475488" y="2734056"/>
            <a:ext cx="1234440" cy="749808"/>
          </a:xfrm>
          <a:prstGeom prst="rect">
            <a:avLst/>
          </a:prstGeom>
          <a:solidFill>
            <a:srgbClr val="178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 y="2935224"/>
            <a:ext cx="1188720" cy="365760"/>
          </a:xfrm>
          <a:prstGeom prst="rect">
            <a:avLst/>
          </a:prstGeom>
          <a:noFill/>
        </p:spPr>
        <p:txBody>
          <a:bodyPr wrap="square" lIns="0" tIns="0" rIns="45720">
            <a:spAutoFit/>
          </a:bodyPr>
          <a:lstStyle/>
          <a:p>
            <a:pPr algn="ctr"/>
            <a:r>
              <a:rPr b="1" i="0" sz="1600">
                <a:solidFill>
                  <a:srgbClr val="FFFFFF"/>
                </a:solidFill>
                <a:latin typeface="Calibri"/>
              </a:rPr>
              <a:t>D = 0</a:t>
            </a:r>
          </a:p>
        </p:txBody>
      </p:sp>
      <p:sp>
        <p:nvSpPr>
          <p:cNvPr id="13" name="TextBox 12"/>
          <p:cNvSpPr txBox="1"/>
          <p:nvPr/>
        </p:nvSpPr>
        <p:spPr>
          <a:xfrm>
            <a:off x="1783080" y="2843784"/>
            <a:ext cx="3840480" cy="594360"/>
          </a:xfrm>
          <a:prstGeom prst="rect">
            <a:avLst/>
          </a:prstGeom>
          <a:noFill/>
        </p:spPr>
        <p:txBody>
          <a:bodyPr wrap="square" lIns="45720" tIns="0" rIns="45720">
            <a:spAutoFit/>
          </a:bodyPr>
          <a:lstStyle/>
          <a:p>
            <a:pPr algn="l"/>
            <a:r>
              <a:rPr b="0" i="0" sz="1100">
                <a:solidFill>
                  <a:srgbClr val="1A1A2E"/>
                </a:solidFill>
                <a:latin typeface="Calibri"/>
              </a:rPr>
              <a:t>Brownian motion
(strong phylogenetic signal)</a:t>
            </a:r>
          </a:p>
        </p:txBody>
      </p:sp>
      <p:sp>
        <p:nvSpPr>
          <p:cNvPr id="14" name="Rectangle 13"/>
          <p:cNvSpPr/>
          <p:nvPr/>
        </p:nvSpPr>
        <p:spPr>
          <a:xfrm>
            <a:off x="475488" y="3611879"/>
            <a:ext cx="1234440" cy="749808"/>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6" y="3813048"/>
            <a:ext cx="1188720" cy="365760"/>
          </a:xfrm>
          <a:prstGeom prst="rect">
            <a:avLst/>
          </a:prstGeom>
          <a:noFill/>
        </p:spPr>
        <p:txBody>
          <a:bodyPr wrap="square" lIns="0" tIns="0" rIns="45720">
            <a:spAutoFit/>
          </a:bodyPr>
          <a:lstStyle/>
          <a:p>
            <a:pPr algn="ctr"/>
            <a:r>
              <a:rPr b="1" i="0" sz="1600">
                <a:solidFill>
                  <a:srgbClr val="FFFFFF"/>
                </a:solidFill>
                <a:latin typeface="Calibri"/>
              </a:rPr>
              <a:t>0 &lt; D &lt; 1</a:t>
            </a:r>
          </a:p>
        </p:txBody>
      </p:sp>
      <p:sp>
        <p:nvSpPr>
          <p:cNvPr id="16" name="TextBox 15"/>
          <p:cNvSpPr txBox="1"/>
          <p:nvPr/>
        </p:nvSpPr>
        <p:spPr>
          <a:xfrm>
            <a:off x="1783080" y="3721607"/>
            <a:ext cx="3840480" cy="594360"/>
          </a:xfrm>
          <a:prstGeom prst="rect">
            <a:avLst/>
          </a:prstGeom>
          <a:noFill/>
        </p:spPr>
        <p:txBody>
          <a:bodyPr wrap="square" lIns="45720" tIns="0" rIns="45720">
            <a:spAutoFit/>
          </a:bodyPr>
          <a:lstStyle/>
          <a:p>
            <a:pPr algn="l"/>
            <a:r>
              <a:rPr b="0" i="0" sz="1100">
                <a:solidFill>
                  <a:srgbClr val="1A1A2E"/>
                </a:solidFill>
                <a:latin typeface="Calibri"/>
              </a:rPr>
              <a:t>Moderate signal</a:t>
            </a:r>
          </a:p>
        </p:txBody>
      </p:sp>
      <p:sp>
        <p:nvSpPr>
          <p:cNvPr id="17" name="Rectangle 16"/>
          <p:cNvSpPr/>
          <p:nvPr/>
        </p:nvSpPr>
        <p:spPr>
          <a:xfrm>
            <a:off x="475488" y="4489704"/>
            <a:ext cx="1234440" cy="749808"/>
          </a:xfrm>
          <a:prstGeom prst="rect">
            <a:avLst/>
          </a:prstGeom>
          <a:solidFill>
            <a:srgbClr val="F396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 y="4690872"/>
            <a:ext cx="1188720" cy="365760"/>
          </a:xfrm>
          <a:prstGeom prst="rect">
            <a:avLst/>
          </a:prstGeom>
          <a:noFill/>
        </p:spPr>
        <p:txBody>
          <a:bodyPr wrap="square" lIns="0" tIns="0" rIns="45720">
            <a:spAutoFit/>
          </a:bodyPr>
          <a:lstStyle/>
          <a:p>
            <a:pPr algn="ctr"/>
            <a:r>
              <a:rPr b="1" i="0" sz="1600">
                <a:solidFill>
                  <a:srgbClr val="FFFFFF"/>
                </a:solidFill>
                <a:latin typeface="Calibri"/>
              </a:rPr>
              <a:t>D = 1</a:t>
            </a:r>
          </a:p>
        </p:txBody>
      </p:sp>
      <p:sp>
        <p:nvSpPr>
          <p:cNvPr id="19" name="TextBox 18"/>
          <p:cNvSpPr txBox="1"/>
          <p:nvPr/>
        </p:nvSpPr>
        <p:spPr>
          <a:xfrm>
            <a:off x="1783080" y="4599432"/>
            <a:ext cx="3840480" cy="594360"/>
          </a:xfrm>
          <a:prstGeom prst="rect">
            <a:avLst/>
          </a:prstGeom>
          <a:noFill/>
        </p:spPr>
        <p:txBody>
          <a:bodyPr wrap="square" lIns="45720" tIns="0" rIns="45720">
            <a:spAutoFit/>
          </a:bodyPr>
          <a:lstStyle/>
          <a:p>
            <a:pPr algn="l"/>
            <a:r>
              <a:rPr b="0" i="0" sz="1100">
                <a:solidFill>
                  <a:srgbClr val="1A1A2E"/>
                </a:solidFill>
                <a:latin typeface="Calibri"/>
              </a:rPr>
              <a:t>Random distribution
(no phylogenetic signal)</a:t>
            </a:r>
          </a:p>
        </p:txBody>
      </p:sp>
      <p:sp>
        <p:nvSpPr>
          <p:cNvPr id="20" name="Rectangle 19"/>
          <p:cNvSpPr/>
          <p:nvPr/>
        </p:nvSpPr>
        <p:spPr>
          <a:xfrm>
            <a:off x="475488" y="5367527"/>
            <a:ext cx="1234440" cy="74980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3776" y="5568695"/>
            <a:ext cx="1188720" cy="365760"/>
          </a:xfrm>
          <a:prstGeom prst="rect">
            <a:avLst/>
          </a:prstGeom>
          <a:noFill/>
        </p:spPr>
        <p:txBody>
          <a:bodyPr wrap="square" lIns="0" tIns="0" rIns="45720">
            <a:spAutoFit/>
          </a:bodyPr>
          <a:lstStyle/>
          <a:p>
            <a:pPr algn="ctr"/>
            <a:r>
              <a:rPr b="1" i="0" sz="1600">
                <a:solidFill>
                  <a:srgbClr val="FFFFFF"/>
                </a:solidFill>
                <a:latin typeface="Calibri"/>
              </a:rPr>
              <a:t>D &gt; 1</a:t>
            </a:r>
          </a:p>
        </p:txBody>
      </p:sp>
      <p:sp>
        <p:nvSpPr>
          <p:cNvPr id="22" name="TextBox 21"/>
          <p:cNvSpPr txBox="1"/>
          <p:nvPr/>
        </p:nvSpPr>
        <p:spPr>
          <a:xfrm>
            <a:off x="1783080" y="5477255"/>
            <a:ext cx="3840480" cy="594360"/>
          </a:xfrm>
          <a:prstGeom prst="rect">
            <a:avLst/>
          </a:prstGeom>
          <a:noFill/>
        </p:spPr>
        <p:txBody>
          <a:bodyPr wrap="square" lIns="45720" tIns="0" rIns="45720">
            <a:spAutoFit/>
          </a:bodyPr>
          <a:lstStyle/>
          <a:p>
            <a:pPr algn="l"/>
            <a:r>
              <a:rPr b="0" i="0" sz="1100">
                <a:solidFill>
                  <a:srgbClr val="1A1A2E"/>
                </a:solidFill>
                <a:latin typeface="Calibri"/>
              </a:rPr>
              <a:t>Overdispersed
(convergent evolution)</a:t>
            </a:r>
          </a:p>
        </p:txBody>
      </p:sp>
      <p:sp>
        <p:nvSpPr>
          <p:cNvPr id="23" name="Rectangle 22"/>
          <p:cNvSpPr/>
          <p:nvPr/>
        </p:nvSpPr>
        <p:spPr>
          <a:xfrm>
            <a:off x="5989320" y="1234440"/>
            <a:ext cx="5806440" cy="534924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0" y="1325880"/>
            <a:ext cx="5486400" cy="384048"/>
          </a:xfrm>
          <a:prstGeom prst="rect">
            <a:avLst/>
          </a:prstGeom>
          <a:noFill/>
        </p:spPr>
        <p:txBody>
          <a:bodyPr wrap="square" lIns="45720" tIns="0" rIns="45720">
            <a:spAutoFit/>
          </a:bodyPr>
          <a:lstStyle/>
          <a:p>
            <a:pPr algn="l"/>
            <a:r>
              <a:rPr b="1" i="0" sz="1400">
                <a:solidFill>
                  <a:srgbClr val="0B5E44"/>
                </a:solidFill>
                <a:latin typeface="Calibri"/>
              </a:rPr>
              <a:t>Analysis Workflow</a:t>
            </a:r>
          </a:p>
        </p:txBody>
      </p:sp>
      <p:sp>
        <p:nvSpPr>
          <p:cNvPr id="25" name="Rectangle 24"/>
          <p:cNvSpPr/>
          <p:nvPr/>
        </p:nvSpPr>
        <p:spPr>
          <a:xfrm>
            <a:off x="5989320" y="1828800"/>
            <a:ext cx="5806440" cy="914400"/>
          </a:xfrm>
          <a:prstGeom prst="rect">
            <a:avLst/>
          </a:prstGeom>
          <a:solidFill>
            <a:srgbClr val="0B5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89320" y="2148840"/>
            <a:ext cx="5806440" cy="59436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08192" y="1883664"/>
            <a:ext cx="1371600" cy="256032"/>
          </a:xfrm>
          <a:prstGeom prst="rect">
            <a:avLst/>
          </a:prstGeom>
          <a:noFill/>
        </p:spPr>
        <p:txBody>
          <a:bodyPr wrap="square" lIns="45720" tIns="0" rIns="45720">
            <a:spAutoFit/>
          </a:bodyPr>
          <a:lstStyle/>
          <a:p>
            <a:pPr algn="l"/>
            <a:r>
              <a:rPr b="1" i="0" sz="1000">
                <a:solidFill>
                  <a:srgbClr val="FFFFFF"/>
                </a:solidFill>
                <a:latin typeface="Calibri"/>
              </a:rPr>
              <a:t>Input</a:t>
            </a:r>
          </a:p>
        </p:txBody>
      </p:sp>
      <p:sp>
        <p:nvSpPr>
          <p:cNvPr id="28" name="TextBox 27"/>
          <p:cNvSpPr txBox="1"/>
          <p:nvPr/>
        </p:nvSpPr>
        <p:spPr>
          <a:xfrm>
            <a:off x="6108192" y="2185416"/>
            <a:ext cx="5577840" cy="530352"/>
          </a:xfrm>
          <a:prstGeom prst="rect">
            <a:avLst/>
          </a:prstGeom>
          <a:noFill/>
        </p:spPr>
        <p:txBody>
          <a:bodyPr wrap="square" lIns="45720" tIns="0" rIns="45720">
            <a:spAutoFit/>
          </a:bodyPr>
          <a:lstStyle/>
          <a:p>
            <a:pPr algn="l"/>
            <a:r>
              <a:rPr b="0" i="0" sz="950">
                <a:solidFill>
                  <a:srgbClr val="1A1A2E"/>
                </a:solidFill>
                <a:latin typeface="Calibri"/>
              </a:rPr>
              <a:t>mannose_traits.csv:
Species | Species_name_in_OGs | Mannose_Class (0/1)</a:t>
            </a:r>
          </a:p>
        </p:txBody>
      </p:sp>
      <p:sp>
        <p:nvSpPr>
          <p:cNvPr id="29" name="Rectangle 28"/>
          <p:cNvSpPr/>
          <p:nvPr/>
        </p:nvSpPr>
        <p:spPr>
          <a:xfrm>
            <a:off x="5989320" y="2779776"/>
            <a:ext cx="5806440" cy="914400"/>
          </a:xfrm>
          <a:prstGeom prst="rect">
            <a:avLst/>
          </a:prstGeom>
          <a:solidFill>
            <a:srgbClr val="117A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989320" y="3099816"/>
            <a:ext cx="5806440" cy="594360"/>
          </a:xfrm>
          <a:prstGeom prst="rect">
            <a:avLst/>
          </a:prstGeom>
          <a:solidFill>
            <a:srgbClr val="C8E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08192" y="2834640"/>
            <a:ext cx="1371600" cy="256032"/>
          </a:xfrm>
          <a:prstGeom prst="rect">
            <a:avLst/>
          </a:prstGeom>
          <a:noFill/>
        </p:spPr>
        <p:txBody>
          <a:bodyPr wrap="square" lIns="45720" tIns="0" rIns="45720">
            <a:spAutoFit/>
          </a:bodyPr>
          <a:lstStyle/>
          <a:p>
            <a:pPr algn="l"/>
            <a:r>
              <a:rPr b="1" i="0" sz="1000">
                <a:solidFill>
                  <a:srgbClr val="FFFFFF"/>
                </a:solidFill>
                <a:latin typeface="Calibri"/>
              </a:rPr>
              <a:t>Match</a:t>
            </a:r>
          </a:p>
        </p:txBody>
      </p:sp>
      <p:sp>
        <p:nvSpPr>
          <p:cNvPr id="32" name="TextBox 31"/>
          <p:cNvSpPr txBox="1"/>
          <p:nvPr/>
        </p:nvSpPr>
        <p:spPr>
          <a:xfrm>
            <a:off x="6108192" y="3136392"/>
            <a:ext cx="5577840" cy="530352"/>
          </a:xfrm>
          <a:prstGeom prst="rect">
            <a:avLst/>
          </a:prstGeom>
          <a:noFill/>
        </p:spPr>
        <p:txBody>
          <a:bodyPr wrap="square" lIns="45720" tIns="0" rIns="45720">
            <a:spAutoFit/>
          </a:bodyPr>
          <a:lstStyle/>
          <a:p>
            <a:pPr algn="l"/>
            <a:r>
              <a:rPr b="0" i="0" sz="950">
                <a:solidFill>
                  <a:srgbClr val="1A1A2E"/>
                </a:solidFill>
                <a:latin typeface="Calibri"/>
              </a:rPr>
              <a:t>match.phylo.data(tree, data):
Links trait to tree tips — unmatched taxa silently pruned</a:t>
            </a:r>
          </a:p>
        </p:txBody>
      </p:sp>
      <p:sp>
        <p:nvSpPr>
          <p:cNvPr id="33" name="Rectangle 32"/>
          <p:cNvSpPr/>
          <p:nvPr/>
        </p:nvSpPr>
        <p:spPr>
          <a:xfrm>
            <a:off x="5989320" y="3730752"/>
            <a:ext cx="5806440" cy="914400"/>
          </a:xfrm>
          <a:prstGeom prst="rect">
            <a:avLst/>
          </a:prstGeom>
          <a:solidFill>
            <a:srgbClr val="0B5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89320" y="4050791"/>
            <a:ext cx="5806440" cy="59436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08192" y="3785615"/>
            <a:ext cx="1371600" cy="256032"/>
          </a:xfrm>
          <a:prstGeom prst="rect">
            <a:avLst/>
          </a:prstGeom>
          <a:noFill/>
        </p:spPr>
        <p:txBody>
          <a:bodyPr wrap="square" lIns="45720" tIns="0" rIns="45720">
            <a:spAutoFit/>
          </a:bodyPr>
          <a:lstStyle/>
          <a:p>
            <a:pPr algn="l"/>
            <a:r>
              <a:rPr b="1" i="0" sz="1000">
                <a:solidFill>
                  <a:srgbClr val="FFFFFF"/>
                </a:solidFill>
                <a:latin typeface="Calibri"/>
              </a:rPr>
              <a:t>Prepare</a:t>
            </a:r>
          </a:p>
        </p:txBody>
      </p:sp>
      <p:sp>
        <p:nvSpPr>
          <p:cNvPr id="36" name="TextBox 35"/>
          <p:cNvSpPr txBox="1"/>
          <p:nvPr/>
        </p:nvSpPr>
        <p:spPr>
          <a:xfrm>
            <a:off x="6108192" y="4087368"/>
            <a:ext cx="5577840" cy="530352"/>
          </a:xfrm>
          <a:prstGeom prst="rect">
            <a:avLst/>
          </a:prstGeom>
          <a:noFill/>
        </p:spPr>
        <p:txBody>
          <a:bodyPr wrap="square" lIns="45720" tIns="0" rIns="45720">
            <a:spAutoFit/>
          </a:bodyPr>
          <a:lstStyle/>
          <a:p>
            <a:pPr algn="l"/>
            <a:r>
              <a:rPr b="0" i="0" sz="950">
                <a:solidFill>
                  <a:srgbClr val="1A1A2E"/>
                </a:solidFill>
                <a:latin typeface="Calibri"/>
              </a:rPr>
              <a:t>multi2di() → chronos() → comparative.data():
Resolve polytomies, make ultrametric, build caper object</a:t>
            </a:r>
          </a:p>
        </p:txBody>
      </p:sp>
      <p:sp>
        <p:nvSpPr>
          <p:cNvPr id="37" name="Rectangle 36"/>
          <p:cNvSpPr/>
          <p:nvPr/>
        </p:nvSpPr>
        <p:spPr>
          <a:xfrm>
            <a:off x="5989320" y="4681728"/>
            <a:ext cx="5806440" cy="914400"/>
          </a:xfrm>
          <a:prstGeom prst="rect">
            <a:avLst/>
          </a:prstGeom>
          <a:solidFill>
            <a:srgbClr val="117A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989320" y="5001768"/>
            <a:ext cx="5806440" cy="594360"/>
          </a:xfrm>
          <a:prstGeom prst="rect">
            <a:avLst/>
          </a:prstGeom>
          <a:solidFill>
            <a:srgbClr val="C8E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08192" y="4736592"/>
            <a:ext cx="1371600" cy="256032"/>
          </a:xfrm>
          <a:prstGeom prst="rect">
            <a:avLst/>
          </a:prstGeom>
          <a:noFill/>
        </p:spPr>
        <p:txBody>
          <a:bodyPr wrap="square" lIns="45720" tIns="0" rIns="45720">
            <a:spAutoFit/>
          </a:bodyPr>
          <a:lstStyle/>
          <a:p>
            <a:pPr algn="l"/>
            <a:r>
              <a:rPr b="1" i="0" sz="1000">
                <a:solidFill>
                  <a:srgbClr val="FFFFFF"/>
                </a:solidFill>
                <a:latin typeface="Calibri"/>
              </a:rPr>
              <a:t>Compute</a:t>
            </a:r>
          </a:p>
        </p:txBody>
      </p:sp>
      <p:sp>
        <p:nvSpPr>
          <p:cNvPr id="40" name="TextBox 39"/>
          <p:cNvSpPr txBox="1"/>
          <p:nvPr/>
        </p:nvSpPr>
        <p:spPr>
          <a:xfrm>
            <a:off x="6108192" y="5038344"/>
            <a:ext cx="5577840" cy="530352"/>
          </a:xfrm>
          <a:prstGeom prst="rect">
            <a:avLst/>
          </a:prstGeom>
          <a:noFill/>
        </p:spPr>
        <p:txBody>
          <a:bodyPr wrap="square" lIns="45720" tIns="0" rIns="45720">
            <a:spAutoFit/>
          </a:bodyPr>
          <a:lstStyle/>
          <a:p>
            <a:pPr algn="l"/>
            <a:r>
              <a:rPr b="0" i="0" sz="950">
                <a:solidFill>
                  <a:srgbClr val="1A1A2E"/>
                </a:solidFill>
                <a:latin typeface="Calibri"/>
              </a:rPr>
              <a:t>phylo.d(data, binvar='Mannose_Class', permut=1000):
D value + p(random) + p(Brownian)</a:t>
            </a:r>
          </a:p>
        </p:txBody>
      </p:sp>
      <p:sp>
        <p:nvSpPr>
          <p:cNvPr id="41" name="Rectangle 40"/>
          <p:cNvSpPr/>
          <p:nvPr/>
        </p:nvSpPr>
        <p:spPr>
          <a:xfrm>
            <a:off x="5989320" y="5632704"/>
            <a:ext cx="5806440" cy="914400"/>
          </a:xfrm>
          <a:prstGeom prst="rect">
            <a:avLst/>
          </a:prstGeom>
          <a:solidFill>
            <a:srgbClr val="0B5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989320" y="5952744"/>
            <a:ext cx="5806440" cy="59436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08192" y="5687568"/>
            <a:ext cx="1371600" cy="256032"/>
          </a:xfrm>
          <a:prstGeom prst="rect">
            <a:avLst/>
          </a:prstGeom>
          <a:noFill/>
        </p:spPr>
        <p:txBody>
          <a:bodyPr wrap="square" lIns="45720" tIns="0" rIns="45720">
            <a:spAutoFit/>
          </a:bodyPr>
          <a:lstStyle/>
          <a:p>
            <a:pPr algn="l"/>
            <a:r>
              <a:rPr b="1" i="0" sz="1000">
                <a:solidFill>
                  <a:srgbClr val="FFFFFF"/>
                </a:solidFill>
                <a:latin typeface="Calibri"/>
              </a:rPr>
              <a:t>Output</a:t>
            </a:r>
          </a:p>
        </p:txBody>
      </p:sp>
      <p:sp>
        <p:nvSpPr>
          <p:cNvPr id="44" name="TextBox 43"/>
          <p:cNvSpPr txBox="1"/>
          <p:nvPr/>
        </p:nvSpPr>
        <p:spPr>
          <a:xfrm>
            <a:off x="6108192" y="5989320"/>
            <a:ext cx="5577840" cy="530352"/>
          </a:xfrm>
          <a:prstGeom prst="rect">
            <a:avLst/>
          </a:prstGeom>
          <a:noFill/>
        </p:spPr>
        <p:txBody>
          <a:bodyPr wrap="square" lIns="45720" tIns="0" rIns="45720">
            <a:spAutoFit/>
          </a:bodyPr>
          <a:lstStyle/>
          <a:p>
            <a:pPr algn="l"/>
            <a:r>
              <a:rPr b="0" i="0" sz="950">
                <a:solidFill>
                  <a:srgbClr val="1A1A2E"/>
                </a:solidFill>
                <a:latin typeface="Calibri"/>
              </a:rPr>
              <a:t>dstatistic_results.tsv:
OG | D | p_random | p_brownian | n_matched | interpretation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2342"/>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4864"/>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515600" cy="777240"/>
          </a:xfrm>
          <a:prstGeom prst="rect">
            <a:avLst/>
          </a:prstGeom>
          <a:noFill/>
        </p:spPr>
        <p:txBody>
          <a:bodyPr wrap="square" lIns="45720" rIns="45720">
            <a:spAutoFit/>
          </a:bodyPr>
          <a:lstStyle/>
          <a:p>
            <a:pPr algn="l"/>
            <a:r>
              <a:rPr b="1" i="0" sz="2800">
                <a:solidFill>
                  <a:srgbClr val="FFFFFF"/>
                </a:solidFill>
                <a:latin typeface="Calibri"/>
              </a:rPr>
              <a:t>Current Status &amp; Next Steps</a:t>
            </a:r>
          </a:p>
        </p:txBody>
      </p:sp>
      <p:sp>
        <p:nvSpPr>
          <p:cNvPr id="5" name="Rectangle 4"/>
          <p:cNvSpPr/>
          <p:nvPr/>
        </p:nvSpPr>
        <p:spPr>
          <a:xfrm>
            <a:off x="365760" y="1188720"/>
            <a:ext cx="6858000" cy="4663440"/>
          </a:xfrm>
          <a:prstGeom prst="rect">
            <a:avLst/>
          </a:prstGeom>
          <a:solidFill>
            <a:srgbClr val="0D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61872"/>
            <a:ext cx="6583680" cy="384048"/>
          </a:xfrm>
          <a:prstGeom prst="rect">
            <a:avLst/>
          </a:prstGeom>
          <a:noFill/>
        </p:spPr>
        <p:txBody>
          <a:bodyPr wrap="square" lIns="45720" tIns="0" rIns="45720">
            <a:spAutoFit/>
          </a:bodyPr>
          <a:lstStyle/>
          <a:p>
            <a:pPr algn="l"/>
            <a:r>
              <a:rPr b="1" i="0" sz="1300">
                <a:solidFill>
                  <a:srgbClr val="1ABC9C"/>
                </a:solidFill>
                <a:latin typeface="Calibri"/>
              </a:rPr>
              <a:t>Pipeline Progress</a:t>
            </a:r>
          </a:p>
        </p:txBody>
      </p:sp>
      <p:sp>
        <p:nvSpPr>
          <p:cNvPr id="7" name="Rectangle 6"/>
          <p:cNvSpPr/>
          <p:nvPr/>
        </p:nvSpPr>
        <p:spPr>
          <a:xfrm>
            <a:off x="365760" y="1737360"/>
            <a:ext cx="6858000" cy="658368"/>
          </a:xfrm>
          <a:prstGeom prst="rect">
            <a:avLst/>
          </a:prstGeom>
          <a:solidFill>
            <a:srgbClr val="0D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865376"/>
            <a:ext cx="411480" cy="384048"/>
          </a:xfrm>
          <a:prstGeom prst="rect">
            <a:avLst/>
          </a:prstGeom>
          <a:noFill/>
        </p:spPr>
        <p:txBody>
          <a:bodyPr wrap="square" lIns="0" tIns="0" rIns="45720">
            <a:spAutoFit/>
          </a:bodyPr>
          <a:lstStyle/>
          <a:p>
            <a:pPr algn="l"/>
            <a:r>
              <a:rPr b="0" i="0" sz="1400">
                <a:latin typeface="Calibri"/>
              </a:rPr>
              <a:t>✅</a:t>
            </a:r>
          </a:p>
        </p:txBody>
      </p:sp>
      <p:sp>
        <p:nvSpPr>
          <p:cNvPr id="9" name="TextBox 8"/>
          <p:cNvSpPr txBox="1"/>
          <p:nvPr/>
        </p:nvSpPr>
        <p:spPr>
          <a:xfrm>
            <a:off x="868680" y="1801368"/>
            <a:ext cx="2560320" cy="274320"/>
          </a:xfrm>
          <a:prstGeom prst="rect">
            <a:avLst/>
          </a:prstGeom>
          <a:noFill/>
        </p:spPr>
        <p:txBody>
          <a:bodyPr wrap="square" lIns="45720" tIns="0" rIns="45720">
            <a:spAutoFit/>
          </a:bodyPr>
          <a:lstStyle/>
          <a:p>
            <a:pPr algn="l"/>
            <a:r>
              <a:rPr b="1" i="0" sz="1050">
                <a:solidFill>
                  <a:srgbClr val="FFFFFF"/>
                </a:solidFill>
                <a:latin typeface="Calibri"/>
              </a:rPr>
              <a:t>Preprocessing</a:t>
            </a:r>
          </a:p>
        </p:txBody>
      </p:sp>
      <p:sp>
        <p:nvSpPr>
          <p:cNvPr id="10" name="Rectangle 9"/>
          <p:cNvSpPr/>
          <p:nvPr/>
        </p:nvSpPr>
        <p:spPr>
          <a:xfrm>
            <a:off x="3429000" y="1847088"/>
            <a:ext cx="1325880" cy="347472"/>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47288" y="1847088"/>
            <a:ext cx="1307592" cy="347472"/>
          </a:xfrm>
          <a:prstGeom prst="rect">
            <a:avLst/>
          </a:prstGeom>
          <a:noFill/>
        </p:spPr>
        <p:txBody>
          <a:bodyPr wrap="square" lIns="0" rIns="45720">
            <a:spAutoFit/>
          </a:bodyPr>
          <a:lstStyle/>
          <a:p>
            <a:pPr algn="ctr"/>
            <a:r>
              <a:rPr b="1" i="0" sz="850">
                <a:solidFill>
                  <a:srgbClr val="0A2342"/>
                </a:solidFill>
                <a:latin typeface="Calibri"/>
              </a:rPr>
              <a:t>COMPLETE</a:t>
            </a:r>
          </a:p>
        </p:txBody>
      </p:sp>
      <p:sp>
        <p:nvSpPr>
          <p:cNvPr id="12" name="TextBox 11"/>
          <p:cNvSpPr txBox="1"/>
          <p:nvPr/>
        </p:nvSpPr>
        <p:spPr>
          <a:xfrm>
            <a:off x="4800600" y="1901952"/>
            <a:ext cx="2286000" cy="347472"/>
          </a:xfrm>
          <a:prstGeom prst="rect">
            <a:avLst/>
          </a:prstGeom>
          <a:noFill/>
        </p:spPr>
        <p:txBody>
          <a:bodyPr wrap="square" lIns="45720" tIns="0" rIns="45720">
            <a:spAutoFit/>
          </a:bodyPr>
          <a:lstStyle/>
          <a:p>
            <a:pPr algn="l"/>
            <a:r>
              <a:rPr b="0" i="0" sz="950">
                <a:solidFill>
                  <a:srgbClr val="A0B8D0"/>
                </a:solidFill>
                <a:latin typeface="Calibri"/>
              </a:rPr>
              <a:t>All OG FASTAs subset, aligned, trimmed</a:t>
            </a:r>
          </a:p>
        </p:txBody>
      </p:sp>
      <p:sp>
        <p:nvSpPr>
          <p:cNvPr id="13" name="Rectangle 12"/>
          <p:cNvSpPr/>
          <p:nvPr/>
        </p:nvSpPr>
        <p:spPr>
          <a:xfrm>
            <a:off x="365760" y="2414015"/>
            <a:ext cx="6858000" cy="658368"/>
          </a:xfrm>
          <a:prstGeom prst="rect">
            <a:avLst/>
          </a:prstGeom>
          <a:solidFill>
            <a:srgbClr val="0D32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542032"/>
            <a:ext cx="411480" cy="384048"/>
          </a:xfrm>
          <a:prstGeom prst="rect">
            <a:avLst/>
          </a:prstGeom>
          <a:noFill/>
        </p:spPr>
        <p:txBody>
          <a:bodyPr wrap="square" lIns="0" tIns="0" rIns="45720">
            <a:spAutoFit/>
          </a:bodyPr>
          <a:lstStyle/>
          <a:p>
            <a:pPr algn="l"/>
            <a:r>
              <a:rPr b="0" i="0" sz="1400">
                <a:latin typeface="Calibri"/>
              </a:rPr>
              <a:t>✅</a:t>
            </a:r>
          </a:p>
        </p:txBody>
      </p:sp>
      <p:sp>
        <p:nvSpPr>
          <p:cNvPr id="15" name="TextBox 14"/>
          <p:cNvSpPr txBox="1"/>
          <p:nvPr/>
        </p:nvSpPr>
        <p:spPr>
          <a:xfrm>
            <a:off x="868680" y="2478023"/>
            <a:ext cx="2560320" cy="274320"/>
          </a:xfrm>
          <a:prstGeom prst="rect">
            <a:avLst/>
          </a:prstGeom>
          <a:noFill/>
        </p:spPr>
        <p:txBody>
          <a:bodyPr wrap="square" lIns="45720" tIns="0" rIns="45720">
            <a:spAutoFit/>
          </a:bodyPr>
          <a:lstStyle/>
          <a:p>
            <a:pPr algn="l"/>
            <a:r>
              <a:rPr b="1" i="0" sz="1050">
                <a:solidFill>
                  <a:srgbClr val="FFFFFF"/>
                </a:solidFill>
                <a:latin typeface="Calibri"/>
              </a:rPr>
              <a:t>Phase 1 — Model Selection</a:t>
            </a:r>
          </a:p>
        </p:txBody>
      </p:sp>
      <p:sp>
        <p:nvSpPr>
          <p:cNvPr id="16" name="Rectangle 15"/>
          <p:cNvSpPr/>
          <p:nvPr/>
        </p:nvSpPr>
        <p:spPr>
          <a:xfrm>
            <a:off x="3429000" y="2523744"/>
            <a:ext cx="1325880" cy="347472"/>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47288" y="2523744"/>
            <a:ext cx="1307592" cy="347472"/>
          </a:xfrm>
          <a:prstGeom prst="rect">
            <a:avLst/>
          </a:prstGeom>
          <a:noFill/>
        </p:spPr>
        <p:txBody>
          <a:bodyPr wrap="square" lIns="0" rIns="45720">
            <a:spAutoFit/>
          </a:bodyPr>
          <a:lstStyle/>
          <a:p>
            <a:pPr algn="ctr"/>
            <a:r>
              <a:rPr b="1" i="0" sz="850">
                <a:solidFill>
                  <a:srgbClr val="0A2342"/>
                </a:solidFill>
                <a:latin typeface="Calibri"/>
              </a:rPr>
              <a:t>COMPLETE</a:t>
            </a:r>
          </a:p>
        </p:txBody>
      </p:sp>
      <p:sp>
        <p:nvSpPr>
          <p:cNvPr id="18" name="TextBox 17"/>
          <p:cNvSpPr txBox="1"/>
          <p:nvPr/>
        </p:nvSpPr>
        <p:spPr>
          <a:xfrm>
            <a:off x="4800600" y="2578608"/>
            <a:ext cx="2286000" cy="347472"/>
          </a:xfrm>
          <a:prstGeom prst="rect">
            <a:avLst/>
          </a:prstGeom>
          <a:noFill/>
        </p:spPr>
        <p:txBody>
          <a:bodyPr wrap="square" lIns="45720" tIns="0" rIns="45720">
            <a:spAutoFit/>
          </a:bodyPr>
          <a:lstStyle/>
          <a:p>
            <a:pPr algn="l"/>
            <a:r>
              <a:rPr b="0" i="0" sz="950">
                <a:solidFill>
                  <a:srgbClr val="A0B8D0"/>
                </a:solidFill>
                <a:latin typeface="Calibri"/>
              </a:rPr>
              <a:t>8 OGs done (OG0007179 removed)</a:t>
            </a:r>
          </a:p>
        </p:txBody>
      </p:sp>
      <p:sp>
        <p:nvSpPr>
          <p:cNvPr id="19" name="Rectangle 18"/>
          <p:cNvSpPr/>
          <p:nvPr/>
        </p:nvSpPr>
        <p:spPr>
          <a:xfrm>
            <a:off x="365760" y="3090672"/>
            <a:ext cx="6858000" cy="658368"/>
          </a:xfrm>
          <a:prstGeom prst="rect">
            <a:avLst/>
          </a:prstGeom>
          <a:solidFill>
            <a:srgbClr val="0D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218688"/>
            <a:ext cx="411480" cy="384048"/>
          </a:xfrm>
          <a:prstGeom prst="rect">
            <a:avLst/>
          </a:prstGeom>
          <a:noFill/>
        </p:spPr>
        <p:txBody>
          <a:bodyPr wrap="square" lIns="0" tIns="0" rIns="45720">
            <a:spAutoFit/>
          </a:bodyPr>
          <a:lstStyle/>
          <a:p>
            <a:pPr algn="l"/>
            <a:r>
              <a:rPr b="0" i="0" sz="1400">
                <a:latin typeface="Calibri"/>
              </a:rPr>
              <a:t>🔄</a:t>
            </a:r>
          </a:p>
        </p:txBody>
      </p:sp>
      <p:sp>
        <p:nvSpPr>
          <p:cNvPr id="21" name="TextBox 20"/>
          <p:cNvSpPr txBox="1"/>
          <p:nvPr/>
        </p:nvSpPr>
        <p:spPr>
          <a:xfrm>
            <a:off x="868680" y="3154679"/>
            <a:ext cx="2560320" cy="274320"/>
          </a:xfrm>
          <a:prstGeom prst="rect">
            <a:avLst/>
          </a:prstGeom>
          <a:noFill/>
        </p:spPr>
        <p:txBody>
          <a:bodyPr wrap="square" lIns="45720" tIns="0" rIns="45720">
            <a:spAutoFit/>
          </a:bodyPr>
          <a:lstStyle/>
          <a:p>
            <a:pPr algn="l"/>
            <a:r>
              <a:rPr b="1" i="0" sz="1050">
                <a:solidFill>
                  <a:srgbClr val="FFFFFF"/>
                </a:solidFill>
                <a:latin typeface="Calibri"/>
              </a:rPr>
              <a:t>Phase 2a — ML Trees</a:t>
            </a:r>
          </a:p>
        </p:txBody>
      </p:sp>
      <p:sp>
        <p:nvSpPr>
          <p:cNvPr id="22" name="Rectangle 21"/>
          <p:cNvSpPr/>
          <p:nvPr/>
        </p:nvSpPr>
        <p:spPr>
          <a:xfrm>
            <a:off x="3429000" y="3200400"/>
            <a:ext cx="1325880" cy="347472"/>
          </a:xfrm>
          <a:prstGeom prst="rect">
            <a:avLst/>
          </a:prstGeom>
          <a:solidFill>
            <a:srgbClr val="F396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47288" y="3200400"/>
            <a:ext cx="1307592" cy="347472"/>
          </a:xfrm>
          <a:prstGeom prst="rect">
            <a:avLst/>
          </a:prstGeom>
          <a:noFill/>
        </p:spPr>
        <p:txBody>
          <a:bodyPr wrap="square" lIns="0" rIns="45720">
            <a:spAutoFit/>
          </a:bodyPr>
          <a:lstStyle/>
          <a:p>
            <a:pPr algn="ctr"/>
            <a:r>
              <a:rPr b="1" i="0" sz="850">
                <a:solidFill>
                  <a:srgbClr val="0A2342"/>
                </a:solidFill>
                <a:latin typeface="Calibri"/>
              </a:rPr>
              <a:t>IN PROGRESS</a:t>
            </a:r>
          </a:p>
        </p:txBody>
      </p:sp>
      <p:sp>
        <p:nvSpPr>
          <p:cNvPr id="24" name="TextBox 23"/>
          <p:cNvSpPr txBox="1"/>
          <p:nvPr/>
        </p:nvSpPr>
        <p:spPr>
          <a:xfrm>
            <a:off x="4800600" y="3255264"/>
            <a:ext cx="2286000" cy="347472"/>
          </a:xfrm>
          <a:prstGeom prst="rect">
            <a:avLst/>
          </a:prstGeom>
          <a:noFill/>
        </p:spPr>
        <p:txBody>
          <a:bodyPr wrap="square" lIns="45720" tIns="0" rIns="45720">
            <a:spAutoFit/>
          </a:bodyPr>
          <a:lstStyle/>
          <a:p>
            <a:pPr algn="l"/>
            <a:r>
              <a:rPr b="0" i="0" sz="950">
                <a:solidFill>
                  <a:srgbClr val="A0B8D0"/>
                </a:solidFill>
                <a:latin typeface="Calibri"/>
              </a:rPr>
              <a:t>8 RAxML-NG jobs running (cluster 105756)</a:t>
            </a:r>
          </a:p>
        </p:txBody>
      </p:sp>
      <p:sp>
        <p:nvSpPr>
          <p:cNvPr id="25" name="Rectangle 24"/>
          <p:cNvSpPr/>
          <p:nvPr/>
        </p:nvSpPr>
        <p:spPr>
          <a:xfrm>
            <a:off x="365760" y="3767327"/>
            <a:ext cx="6858000" cy="658368"/>
          </a:xfrm>
          <a:prstGeom prst="rect">
            <a:avLst/>
          </a:prstGeom>
          <a:solidFill>
            <a:srgbClr val="0D32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895343"/>
            <a:ext cx="411480" cy="384048"/>
          </a:xfrm>
          <a:prstGeom prst="rect">
            <a:avLst/>
          </a:prstGeom>
          <a:noFill/>
        </p:spPr>
        <p:txBody>
          <a:bodyPr wrap="square" lIns="0" tIns="0" rIns="45720">
            <a:spAutoFit/>
          </a:bodyPr>
          <a:lstStyle/>
          <a:p>
            <a:pPr algn="l"/>
            <a:r>
              <a:rPr b="0" i="0" sz="1400">
                <a:latin typeface="Calibri"/>
              </a:rPr>
              <a:t>⏳</a:t>
            </a:r>
          </a:p>
        </p:txBody>
      </p:sp>
      <p:sp>
        <p:nvSpPr>
          <p:cNvPr id="27" name="TextBox 26"/>
          <p:cNvSpPr txBox="1"/>
          <p:nvPr/>
        </p:nvSpPr>
        <p:spPr>
          <a:xfrm>
            <a:off x="868680" y="3831335"/>
            <a:ext cx="2560320" cy="274320"/>
          </a:xfrm>
          <a:prstGeom prst="rect">
            <a:avLst/>
          </a:prstGeom>
          <a:noFill/>
        </p:spPr>
        <p:txBody>
          <a:bodyPr wrap="square" lIns="45720" tIns="0" rIns="45720">
            <a:spAutoFit/>
          </a:bodyPr>
          <a:lstStyle/>
          <a:p>
            <a:pPr algn="l"/>
            <a:r>
              <a:rPr b="1" i="0" sz="1050">
                <a:solidFill>
                  <a:srgbClr val="FFFFFF"/>
                </a:solidFill>
                <a:latin typeface="Calibri"/>
              </a:rPr>
              <a:t>Phase 2b — Bayesian Trees</a:t>
            </a:r>
          </a:p>
        </p:txBody>
      </p:sp>
      <p:sp>
        <p:nvSpPr>
          <p:cNvPr id="28" name="Rectangle 27"/>
          <p:cNvSpPr/>
          <p:nvPr/>
        </p:nvSpPr>
        <p:spPr>
          <a:xfrm>
            <a:off x="3429000" y="3877055"/>
            <a:ext cx="1325880" cy="347472"/>
          </a:xfrm>
          <a:prstGeom prst="rect">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47288" y="3877055"/>
            <a:ext cx="1307592" cy="347472"/>
          </a:xfrm>
          <a:prstGeom prst="rect">
            <a:avLst/>
          </a:prstGeom>
          <a:noFill/>
        </p:spPr>
        <p:txBody>
          <a:bodyPr wrap="square" lIns="0" rIns="45720">
            <a:spAutoFit/>
          </a:bodyPr>
          <a:lstStyle/>
          <a:p>
            <a:pPr algn="ctr"/>
            <a:r>
              <a:rPr b="1" i="0" sz="850">
                <a:solidFill>
                  <a:srgbClr val="0A2342"/>
                </a:solidFill>
                <a:latin typeface="Calibri"/>
              </a:rPr>
              <a:t>PENDING</a:t>
            </a:r>
          </a:p>
        </p:txBody>
      </p:sp>
      <p:sp>
        <p:nvSpPr>
          <p:cNvPr id="30" name="TextBox 29"/>
          <p:cNvSpPr txBox="1"/>
          <p:nvPr/>
        </p:nvSpPr>
        <p:spPr>
          <a:xfrm>
            <a:off x="4800600" y="3931919"/>
            <a:ext cx="2286000" cy="347472"/>
          </a:xfrm>
          <a:prstGeom prst="rect">
            <a:avLst/>
          </a:prstGeom>
          <a:noFill/>
        </p:spPr>
        <p:txBody>
          <a:bodyPr wrap="square" lIns="45720" tIns="0" rIns="45720">
            <a:spAutoFit/>
          </a:bodyPr>
          <a:lstStyle/>
          <a:p>
            <a:pPr algn="l"/>
            <a:r>
              <a:rPr b="0" i="0" sz="950">
                <a:solidFill>
                  <a:srgbClr val="A0B8D0"/>
                </a:solidFill>
                <a:latin typeface="Calibri"/>
              </a:rPr>
              <a:t>MRCA priors ready to inject into XML files</a:t>
            </a:r>
          </a:p>
        </p:txBody>
      </p:sp>
      <p:sp>
        <p:nvSpPr>
          <p:cNvPr id="31" name="Rectangle 30"/>
          <p:cNvSpPr/>
          <p:nvPr/>
        </p:nvSpPr>
        <p:spPr>
          <a:xfrm>
            <a:off x="365760" y="4443983"/>
            <a:ext cx="6858000" cy="658368"/>
          </a:xfrm>
          <a:prstGeom prst="rect">
            <a:avLst/>
          </a:prstGeom>
          <a:solidFill>
            <a:srgbClr val="0D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571999"/>
            <a:ext cx="411480" cy="384048"/>
          </a:xfrm>
          <a:prstGeom prst="rect">
            <a:avLst/>
          </a:prstGeom>
          <a:noFill/>
        </p:spPr>
        <p:txBody>
          <a:bodyPr wrap="square" lIns="0" tIns="0" rIns="45720">
            <a:spAutoFit/>
          </a:bodyPr>
          <a:lstStyle/>
          <a:p>
            <a:pPr algn="l"/>
            <a:r>
              <a:rPr b="0" i="0" sz="1400">
                <a:latin typeface="Calibri"/>
              </a:rPr>
              <a:t>⏳</a:t>
            </a:r>
          </a:p>
        </p:txBody>
      </p:sp>
      <p:sp>
        <p:nvSpPr>
          <p:cNvPr id="33" name="TextBox 32"/>
          <p:cNvSpPr txBox="1"/>
          <p:nvPr/>
        </p:nvSpPr>
        <p:spPr>
          <a:xfrm>
            <a:off x="868680" y="4507992"/>
            <a:ext cx="2560320" cy="274320"/>
          </a:xfrm>
          <a:prstGeom prst="rect">
            <a:avLst/>
          </a:prstGeom>
          <a:noFill/>
        </p:spPr>
        <p:txBody>
          <a:bodyPr wrap="square" lIns="45720" tIns="0" rIns="45720">
            <a:spAutoFit/>
          </a:bodyPr>
          <a:lstStyle/>
          <a:p>
            <a:pPr algn="l"/>
            <a:r>
              <a:rPr b="1" i="0" sz="1050">
                <a:solidFill>
                  <a:srgbClr val="FFFFFF"/>
                </a:solidFill>
                <a:latin typeface="Calibri"/>
              </a:rPr>
              <a:t>Phase 2c — ASTRAL</a:t>
            </a:r>
          </a:p>
        </p:txBody>
      </p:sp>
      <p:sp>
        <p:nvSpPr>
          <p:cNvPr id="34" name="Rectangle 33"/>
          <p:cNvSpPr/>
          <p:nvPr/>
        </p:nvSpPr>
        <p:spPr>
          <a:xfrm>
            <a:off x="3429000" y="4553712"/>
            <a:ext cx="1325880" cy="347472"/>
          </a:xfrm>
          <a:prstGeom prst="rect">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47288" y="4553712"/>
            <a:ext cx="1307592" cy="347472"/>
          </a:xfrm>
          <a:prstGeom prst="rect">
            <a:avLst/>
          </a:prstGeom>
          <a:noFill/>
        </p:spPr>
        <p:txBody>
          <a:bodyPr wrap="square" lIns="0" rIns="45720">
            <a:spAutoFit/>
          </a:bodyPr>
          <a:lstStyle/>
          <a:p>
            <a:pPr algn="ctr"/>
            <a:r>
              <a:rPr b="1" i="0" sz="850">
                <a:solidFill>
                  <a:srgbClr val="0A2342"/>
                </a:solidFill>
                <a:latin typeface="Calibri"/>
              </a:rPr>
              <a:t>PENDING</a:t>
            </a:r>
          </a:p>
        </p:txBody>
      </p:sp>
      <p:sp>
        <p:nvSpPr>
          <p:cNvPr id="36" name="TextBox 35"/>
          <p:cNvSpPr txBox="1"/>
          <p:nvPr/>
        </p:nvSpPr>
        <p:spPr>
          <a:xfrm>
            <a:off x="4800600" y="4608575"/>
            <a:ext cx="2286000" cy="347472"/>
          </a:xfrm>
          <a:prstGeom prst="rect">
            <a:avLst/>
          </a:prstGeom>
          <a:noFill/>
        </p:spPr>
        <p:txBody>
          <a:bodyPr wrap="square" lIns="45720" tIns="0" rIns="45720">
            <a:spAutoFit/>
          </a:bodyPr>
          <a:lstStyle/>
          <a:p>
            <a:pPr algn="l"/>
            <a:r>
              <a:rPr b="0" i="0" sz="950">
                <a:solidFill>
                  <a:srgbClr val="A0B8D0"/>
                </a:solidFill>
                <a:latin typeface="Calibri"/>
              </a:rPr>
              <a:t>Run after Phase 2a trees are available</a:t>
            </a:r>
          </a:p>
        </p:txBody>
      </p:sp>
      <p:sp>
        <p:nvSpPr>
          <p:cNvPr id="37" name="Rectangle 36"/>
          <p:cNvSpPr/>
          <p:nvPr/>
        </p:nvSpPr>
        <p:spPr>
          <a:xfrm>
            <a:off x="365760" y="5120640"/>
            <a:ext cx="6858000" cy="658368"/>
          </a:xfrm>
          <a:prstGeom prst="rect">
            <a:avLst/>
          </a:prstGeom>
          <a:solidFill>
            <a:srgbClr val="0D32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5248655"/>
            <a:ext cx="411480" cy="384048"/>
          </a:xfrm>
          <a:prstGeom prst="rect">
            <a:avLst/>
          </a:prstGeom>
          <a:noFill/>
        </p:spPr>
        <p:txBody>
          <a:bodyPr wrap="square" lIns="0" tIns="0" rIns="45720">
            <a:spAutoFit/>
          </a:bodyPr>
          <a:lstStyle/>
          <a:p>
            <a:pPr algn="l"/>
            <a:r>
              <a:rPr b="0" i="0" sz="1400">
                <a:latin typeface="Calibri"/>
              </a:rPr>
              <a:t>⏳</a:t>
            </a:r>
          </a:p>
        </p:txBody>
      </p:sp>
      <p:sp>
        <p:nvSpPr>
          <p:cNvPr id="39" name="TextBox 38"/>
          <p:cNvSpPr txBox="1"/>
          <p:nvPr/>
        </p:nvSpPr>
        <p:spPr>
          <a:xfrm>
            <a:off x="868680" y="5184648"/>
            <a:ext cx="2560320" cy="274320"/>
          </a:xfrm>
          <a:prstGeom prst="rect">
            <a:avLst/>
          </a:prstGeom>
          <a:noFill/>
        </p:spPr>
        <p:txBody>
          <a:bodyPr wrap="square" lIns="45720" tIns="0" rIns="45720">
            <a:spAutoFit/>
          </a:bodyPr>
          <a:lstStyle/>
          <a:p>
            <a:pPr algn="l"/>
            <a:r>
              <a:rPr b="1" i="0" sz="1050">
                <a:solidFill>
                  <a:srgbClr val="FFFFFF"/>
                </a:solidFill>
                <a:latin typeface="Calibri"/>
              </a:rPr>
              <a:t>Phase 3 — D-statistic</a:t>
            </a:r>
          </a:p>
        </p:txBody>
      </p:sp>
      <p:sp>
        <p:nvSpPr>
          <p:cNvPr id="40" name="Rectangle 39"/>
          <p:cNvSpPr/>
          <p:nvPr/>
        </p:nvSpPr>
        <p:spPr>
          <a:xfrm>
            <a:off x="3429000" y="5230368"/>
            <a:ext cx="1325880" cy="347472"/>
          </a:xfrm>
          <a:prstGeom prst="rect">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47288" y="5230368"/>
            <a:ext cx="1307592" cy="347472"/>
          </a:xfrm>
          <a:prstGeom prst="rect">
            <a:avLst/>
          </a:prstGeom>
          <a:noFill/>
        </p:spPr>
        <p:txBody>
          <a:bodyPr wrap="square" lIns="0" rIns="45720">
            <a:spAutoFit/>
          </a:bodyPr>
          <a:lstStyle/>
          <a:p>
            <a:pPr algn="ctr"/>
            <a:r>
              <a:rPr b="1" i="0" sz="850">
                <a:solidFill>
                  <a:srgbClr val="0A2342"/>
                </a:solidFill>
                <a:latin typeface="Calibri"/>
              </a:rPr>
              <a:t>PENDING</a:t>
            </a:r>
          </a:p>
        </p:txBody>
      </p:sp>
      <p:sp>
        <p:nvSpPr>
          <p:cNvPr id="42" name="TextBox 41"/>
          <p:cNvSpPr txBox="1"/>
          <p:nvPr/>
        </p:nvSpPr>
        <p:spPr>
          <a:xfrm>
            <a:off x="4800600" y="5285231"/>
            <a:ext cx="2286000" cy="347472"/>
          </a:xfrm>
          <a:prstGeom prst="rect">
            <a:avLst/>
          </a:prstGeom>
          <a:noFill/>
        </p:spPr>
        <p:txBody>
          <a:bodyPr wrap="square" lIns="45720" tIns="0" rIns="45720">
            <a:spAutoFit/>
          </a:bodyPr>
          <a:lstStyle/>
          <a:p>
            <a:pPr algn="l"/>
            <a:r>
              <a:rPr b="0" i="0" sz="950">
                <a:solidFill>
                  <a:srgbClr val="A0B8D0"/>
                </a:solidFill>
                <a:latin typeface="Calibri"/>
              </a:rPr>
              <a:t>Needs mannose_traits.csv placed in data/</a:t>
            </a:r>
          </a:p>
        </p:txBody>
      </p:sp>
      <p:sp>
        <p:nvSpPr>
          <p:cNvPr id="43" name="Rectangle 42"/>
          <p:cNvSpPr/>
          <p:nvPr/>
        </p:nvSpPr>
        <p:spPr>
          <a:xfrm>
            <a:off x="7452360" y="1188720"/>
            <a:ext cx="4389120" cy="4663440"/>
          </a:xfrm>
          <a:prstGeom prst="rect">
            <a:avLst/>
          </a:prstGeom>
          <a:solidFill>
            <a:srgbClr val="0D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89520" y="1261872"/>
            <a:ext cx="4114800" cy="384048"/>
          </a:xfrm>
          <a:prstGeom prst="rect">
            <a:avLst/>
          </a:prstGeom>
          <a:noFill/>
        </p:spPr>
        <p:txBody>
          <a:bodyPr wrap="square" lIns="45720" tIns="0" rIns="45720">
            <a:spAutoFit/>
          </a:bodyPr>
          <a:lstStyle/>
          <a:p>
            <a:pPr algn="l"/>
            <a:r>
              <a:rPr b="1" i="0" sz="1300">
                <a:solidFill>
                  <a:srgbClr val="1ABC9C"/>
                </a:solidFill>
                <a:latin typeface="Calibri"/>
              </a:rPr>
              <a:t>Planned Analyses</a:t>
            </a:r>
          </a:p>
        </p:txBody>
      </p:sp>
      <p:sp>
        <p:nvSpPr>
          <p:cNvPr id="45" name="Rectangle 44"/>
          <p:cNvSpPr/>
          <p:nvPr/>
        </p:nvSpPr>
        <p:spPr>
          <a:xfrm>
            <a:off x="7452360" y="1737360"/>
            <a:ext cx="4389120" cy="676656"/>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43800" y="1865376"/>
            <a:ext cx="320040" cy="384048"/>
          </a:xfrm>
          <a:prstGeom prst="rect">
            <a:avLst/>
          </a:prstGeom>
          <a:noFill/>
        </p:spPr>
        <p:txBody>
          <a:bodyPr wrap="square" lIns="0" tIns="0" rIns="45720">
            <a:spAutoFit/>
          </a:bodyPr>
          <a:lstStyle/>
          <a:p>
            <a:pPr algn="ctr"/>
            <a:r>
              <a:rPr b="1" i="0" sz="1200">
                <a:solidFill>
                  <a:srgbClr val="1ABC9C"/>
                </a:solidFill>
                <a:latin typeface="Calibri"/>
              </a:rPr>
              <a:t>1.</a:t>
            </a:r>
          </a:p>
        </p:txBody>
      </p:sp>
      <p:sp>
        <p:nvSpPr>
          <p:cNvPr id="47" name="TextBox 46"/>
          <p:cNvSpPr txBox="1"/>
          <p:nvPr/>
        </p:nvSpPr>
        <p:spPr>
          <a:xfrm>
            <a:off x="7882127" y="1801368"/>
            <a:ext cx="3840480" cy="566928"/>
          </a:xfrm>
          <a:prstGeom prst="rect">
            <a:avLst/>
          </a:prstGeom>
          <a:noFill/>
        </p:spPr>
        <p:txBody>
          <a:bodyPr wrap="square" lIns="45720" tIns="0" rIns="45720">
            <a:spAutoFit/>
          </a:bodyPr>
          <a:lstStyle/>
          <a:p>
            <a:pPr algn="l"/>
            <a:r>
              <a:rPr b="0" i="0" sz="1050">
                <a:solidFill>
                  <a:srgbClr val="FFFFFF"/>
                </a:solidFill>
                <a:latin typeface="Calibri"/>
              </a:rPr>
              <a:t>Per-site conservation scoring
(Shannon entropy / JSD)</a:t>
            </a:r>
          </a:p>
        </p:txBody>
      </p:sp>
      <p:sp>
        <p:nvSpPr>
          <p:cNvPr id="48" name="Rectangle 47"/>
          <p:cNvSpPr/>
          <p:nvPr/>
        </p:nvSpPr>
        <p:spPr>
          <a:xfrm>
            <a:off x="7452360" y="2487168"/>
            <a:ext cx="4389120" cy="676656"/>
          </a:xfrm>
          <a:prstGeom prst="rect">
            <a:avLst/>
          </a:prstGeom>
          <a:solidFill>
            <a:srgbClr val="0D32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543800" y="2615184"/>
            <a:ext cx="320040" cy="384048"/>
          </a:xfrm>
          <a:prstGeom prst="rect">
            <a:avLst/>
          </a:prstGeom>
          <a:noFill/>
        </p:spPr>
        <p:txBody>
          <a:bodyPr wrap="square" lIns="0" tIns="0" rIns="45720">
            <a:spAutoFit/>
          </a:bodyPr>
          <a:lstStyle/>
          <a:p>
            <a:pPr algn="ctr"/>
            <a:r>
              <a:rPr b="1" i="0" sz="1200">
                <a:solidFill>
                  <a:srgbClr val="1ABC9C"/>
                </a:solidFill>
                <a:latin typeface="Calibri"/>
              </a:rPr>
              <a:t>2.</a:t>
            </a:r>
          </a:p>
        </p:txBody>
      </p:sp>
      <p:sp>
        <p:nvSpPr>
          <p:cNvPr id="50" name="TextBox 49"/>
          <p:cNvSpPr txBox="1"/>
          <p:nvPr/>
        </p:nvSpPr>
        <p:spPr>
          <a:xfrm>
            <a:off x="7882127" y="2551175"/>
            <a:ext cx="3840480" cy="566928"/>
          </a:xfrm>
          <a:prstGeom prst="rect">
            <a:avLst/>
          </a:prstGeom>
          <a:noFill/>
        </p:spPr>
        <p:txBody>
          <a:bodyPr wrap="square" lIns="45720" tIns="0" rIns="45720">
            <a:spAutoFit/>
          </a:bodyPr>
          <a:lstStyle/>
          <a:p>
            <a:pPr algn="l"/>
            <a:r>
              <a:rPr b="0" i="0" sz="1050">
                <a:solidFill>
                  <a:srgbClr val="FFFFFF"/>
                </a:solidFill>
                <a:latin typeface="Calibri"/>
              </a:rPr>
              <a:t>Mannose grower vs. non-grower
enrichment tests per OG</a:t>
            </a:r>
          </a:p>
        </p:txBody>
      </p:sp>
      <p:sp>
        <p:nvSpPr>
          <p:cNvPr id="51" name="Rectangle 50"/>
          <p:cNvSpPr/>
          <p:nvPr/>
        </p:nvSpPr>
        <p:spPr>
          <a:xfrm>
            <a:off x="7452360" y="3236976"/>
            <a:ext cx="4389120" cy="676656"/>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543800" y="3364992"/>
            <a:ext cx="320040" cy="384048"/>
          </a:xfrm>
          <a:prstGeom prst="rect">
            <a:avLst/>
          </a:prstGeom>
          <a:noFill/>
        </p:spPr>
        <p:txBody>
          <a:bodyPr wrap="square" lIns="0" tIns="0" rIns="45720">
            <a:spAutoFit/>
          </a:bodyPr>
          <a:lstStyle/>
          <a:p>
            <a:pPr algn="ctr"/>
            <a:r>
              <a:rPr b="1" i="0" sz="1200">
                <a:solidFill>
                  <a:srgbClr val="1ABC9C"/>
                </a:solidFill>
                <a:latin typeface="Calibri"/>
              </a:rPr>
              <a:t>3.</a:t>
            </a:r>
          </a:p>
        </p:txBody>
      </p:sp>
      <p:sp>
        <p:nvSpPr>
          <p:cNvPr id="53" name="TextBox 52"/>
          <p:cNvSpPr txBox="1"/>
          <p:nvPr/>
        </p:nvSpPr>
        <p:spPr>
          <a:xfrm>
            <a:off x="7882127" y="3300984"/>
            <a:ext cx="3840480" cy="566928"/>
          </a:xfrm>
          <a:prstGeom prst="rect">
            <a:avLst/>
          </a:prstGeom>
          <a:noFill/>
        </p:spPr>
        <p:txBody>
          <a:bodyPr wrap="square" lIns="45720" tIns="0" rIns="45720">
            <a:spAutoFit/>
          </a:bodyPr>
          <a:lstStyle/>
          <a:p>
            <a:pPr algn="l"/>
            <a:r>
              <a:rPr b="0" i="0" sz="1050">
                <a:solidFill>
                  <a:srgbClr val="FFFFFF"/>
                </a:solidFill>
                <a:latin typeface="Calibri"/>
              </a:rPr>
              <a:t>Gene family presence/absence
modeling across 267 species</a:t>
            </a:r>
          </a:p>
        </p:txBody>
      </p:sp>
      <p:sp>
        <p:nvSpPr>
          <p:cNvPr id="54" name="Rectangle 53"/>
          <p:cNvSpPr/>
          <p:nvPr/>
        </p:nvSpPr>
        <p:spPr>
          <a:xfrm>
            <a:off x="7452360" y="3986783"/>
            <a:ext cx="4389120" cy="676656"/>
          </a:xfrm>
          <a:prstGeom prst="rect">
            <a:avLst/>
          </a:prstGeom>
          <a:solidFill>
            <a:srgbClr val="0D32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543800" y="4114799"/>
            <a:ext cx="320040" cy="384048"/>
          </a:xfrm>
          <a:prstGeom prst="rect">
            <a:avLst/>
          </a:prstGeom>
          <a:noFill/>
        </p:spPr>
        <p:txBody>
          <a:bodyPr wrap="square" lIns="0" tIns="0" rIns="45720">
            <a:spAutoFit/>
          </a:bodyPr>
          <a:lstStyle/>
          <a:p>
            <a:pPr algn="ctr"/>
            <a:r>
              <a:rPr b="1" i="0" sz="1200">
                <a:solidFill>
                  <a:srgbClr val="1ABC9C"/>
                </a:solidFill>
                <a:latin typeface="Calibri"/>
              </a:rPr>
              <a:t>4.</a:t>
            </a:r>
          </a:p>
        </p:txBody>
      </p:sp>
      <p:sp>
        <p:nvSpPr>
          <p:cNvPr id="56" name="TextBox 55"/>
          <p:cNvSpPr txBox="1"/>
          <p:nvPr/>
        </p:nvSpPr>
        <p:spPr>
          <a:xfrm>
            <a:off x="7882127" y="4050791"/>
            <a:ext cx="3840480" cy="566928"/>
          </a:xfrm>
          <a:prstGeom prst="rect">
            <a:avLst/>
          </a:prstGeom>
          <a:noFill/>
        </p:spPr>
        <p:txBody>
          <a:bodyPr wrap="square" lIns="45720" tIns="0" rIns="45720">
            <a:spAutoFit/>
          </a:bodyPr>
          <a:lstStyle/>
          <a:p>
            <a:pPr algn="l"/>
            <a:r>
              <a:rPr b="0" i="0" sz="1050">
                <a:solidFill>
                  <a:srgbClr val="FFFFFF"/>
                </a:solidFill>
                <a:latin typeface="Calibri"/>
              </a:rPr>
              <a:t>Ancestral state reconstruction
for mannose growth trait</a:t>
            </a:r>
          </a:p>
        </p:txBody>
      </p:sp>
      <p:sp>
        <p:nvSpPr>
          <p:cNvPr id="57" name="Rectangle 56"/>
          <p:cNvSpPr/>
          <p:nvPr/>
        </p:nvSpPr>
        <p:spPr>
          <a:xfrm>
            <a:off x="7452360" y="4736592"/>
            <a:ext cx="4389120" cy="676656"/>
          </a:xfrm>
          <a:prstGeom prst="rect">
            <a:avLst/>
          </a:prstGeom>
          <a:solidFill>
            <a:srgbClr val="144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543800" y="4864607"/>
            <a:ext cx="320040" cy="384048"/>
          </a:xfrm>
          <a:prstGeom prst="rect">
            <a:avLst/>
          </a:prstGeom>
          <a:noFill/>
        </p:spPr>
        <p:txBody>
          <a:bodyPr wrap="square" lIns="0" tIns="0" rIns="45720">
            <a:spAutoFit/>
          </a:bodyPr>
          <a:lstStyle/>
          <a:p>
            <a:pPr algn="ctr"/>
            <a:r>
              <a:rPr b="1" i="0" sz="1200">
                <a:solidFill>
                  <a:srgbClr val="1ABC9C"/>
                </a:solidFill>
                <a:latin typeface="Calibri"/>
              </a:rPr>
              <a:t>5.</a:t>
            </a:r>
          </a:p>
        </p:txBody>
      </p:sp>
      <p:sp>
        <p:nvSpPr>
          <p:cNvPr id="59" name="TextBox 58"/>
          <p:cNvSpPr txBox="1"/>
          <p:nvPr/>
        </p:nvSpPr>
        <p:spPr>
          <a:xfrm>
            <a:off x="7882127" y="4800600"/>
            <a:ext cx="3840480" cy="566928"/>
          </a:xfrm>
          <a:prstGeom prst="rect">
            <a:avLst/>
          </a:prstGeom>
          <a:noFill/>
        </p:spPr>
        <p:txBody>
          <a:bodyPr wrap="square" lIns="45720" tIns="0" rIns="45720">
            <a:spAutoFit/>
          </a:bodyPr>
          <a:lstStyle/>
          <a:p>
            <a:pPr algn="l"/>
            <a:r>
              <a:rPr b="0" i="0" sz="1050">
                <a:solidFill>
                  <a:srgbClr val="FFFFFF"/>
                </a:solidFill>
                <a:latin typeface="Calibri"/>
              </a:rPr>
              <a:t>Genome alignment with
pygenomeviz / progressiveMauve</a:t>
            </a:r>
          </a:p>
        </p:txBody>
      </p:sp>
      <p:sp>
        <p:nvSpPr>
          <p:cNvPr id="60" name="Rectangle 59"/>
          <p:cNvSpPr/>
          <p:nvPr/>
        </p:nvSpPr>
        <p:spPr>
          <a:xfrm>
            <a:off x="0" y="6080760"/>
            <a:ext cx="12188952" cy="777240"/>
          </a:xfrm>
          <a:prstGeom prst="rect">
            <a:avLst/>
          </a:prstGeom>
          <a:solidFill>
            <a:srgbClr val="06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5760" y="6153912"/>
            <a:ext cx="11457432" cy="457200"/>
          </a:xfrm>
          <a:prstGeom prst="rect">
            <a:avLst/>
          </a:prstGeom>
          <a:noFill/>
        </p:spPr>
        <p:txBody>
          <a:bodyPr wrap="square" lIns="0" tIns="0" rIns="45720">
            <a:spAutoFit/>
          </a:bodyPr>
          <a:lstStyle/>
          <a:p>
            <a:pPr algn="ctr"/>
            <a:r>
              <a:rPr b="0" i="1" sz="1100">
                <a:solidFill>
                  <a:srgbClr val="7F9FBF"/>
                </a:solidFill>
                <a:latin typeface="Calibri"/>
              </a:rPr>
              <a:t>PLANTPATH 563  ·  Benjamin Narh-Madey  ·  GLBRC scarcity-ap-1  ·  March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